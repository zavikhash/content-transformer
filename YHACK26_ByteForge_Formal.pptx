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8.jpe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work/bg/01_title.png"/>
          <p:cNvPicPr>
            <a:picLocks noChangeAspect="1"/>
          </p:cNvPicPr>
          <p:nvPr/>
        </p:nvPicPr>
        <p:blipFill>
          <a:blip r:embed="rId1"/>
          <a:stretch>
            <a:fillRect/>
          </a:stretch>
        </p:blipFill>
        <p:spPr>
          <a:xfrm>
            <a:off x="0" y="0"/>
            <a:ext cx="18288000" cy="10287000"/>
          </a:xfrm>
          <a:prstGeom prst="rect">
            <a:avLst/>
          </a:prstGeom>
        </p:spPr>
      </p:pic>
      <p:sp>
        <p:nvSpPr>
          <p:cNvPr id="3" name="Shape 0"/>
          <p:cNvSpPr/>
          <p:nvPr/>
        </p:nvSpPr>
        <p:spPr>
          <a:xfrm>
            <a:off x="0" y="1783080"/>
            <a:ext cx="10195560" cy="7818120"/>
          </a:xfrm>
          <a:prstGeom prst="rect">
            <a:avLst/>
          </a:prstGeom>
          <a:solidFill>
            <a:srgbClr val="FFFFFF"/>
          </a:solidFill>
        </p:spPr>
      </p:sp>
      <p:sp>
        <p:nvSpPr>
          <p:cNvPr id="4" name="Text 1"/>
          <p:cNvSpPr/>
          <p:nvPr/>
        </p:nvSpPr>
        <p:spPr>
          <a:xfrm>
            <a:off x="822960" y="1965960"/>
            <a:ext cx="9418320" cy="914400"/>
          </a:xfrm>
          <a:prstGeom prst="rect">
            <a:avLst/>
          </a:prstGeom>
          <a:noFill/>
        </p:spPr>
        <p:txBody>
          <a:bodyPr wrap="square" lIns="0" tIns="0" rIns="0" bIns="0" rtlCol="0" anchor="t"/>
          <a:lstStyle/>
          <a:p>
            <a:pPr marL="0" indent="0">
              <a:buNone/>
            </a:pPr>
            <a:r>
              <a:rPr lang="en-US" sz="3000" b="1" dirty="0">
                <a:solidFill>
                  <a:srgbClr val="931A1A"/>
                </a:solidFill>
                <a:latin typeface="Arial" panose="020B0604020202090204" pitchFamily="34" charset="0"/>
                <a:ea typeface="Arial" panose="020B0604020202090204" pitchFamily="34" charset="-122"/>
                <a:cs typeface="Arial" panose="020B0604020202090204" pitchFamily="34" charset="-120"/>
              </a:rPr>
              <a:t>TITLE: </a:t>
            </a:r>
            <a:r>
              <a:rPr lang="en-US" sz="2600" b="1" dirty="0">
                <a:solidFill>
                  <a:srgbClr val="000000"/>
                </a:solidFill>
                <a:latin typeface="Arial" panose="020B0604020202090204" pitchFamily="34" charset="0"/>
                <a:ea typeface="Arial" panose="020B0604020202090204" pitchFamily="34" charset="-122"/>
                <a:cs typeface="Arial" panose="020B0604020202090204" pitchFamily="34" charset="-120"/>
              </a:rPr>
              <a:t>AI Based Multi-Format Content Transformation System</a:t>
            </a:r>
            <a:endParaRPr lang="en-US" sz="3000" dirty="0"/>
          </a:p>
        </p:txBody>
      </p:sp>
      <p:sp>
        <p:nvSpPr>
          <p:cNvPr id="5" name="Text 2"/>
          <p:cNvSpPr/>
          <p:nvPr/>
        </p:nvSpPr>
        <p:spPr>
          <a:xfrm>
            <a:off x="822960" y="3657600"/>
            <a:ext cx="9326880" cy="562356"/>
          </a:xfrm>
          <a:prstGeom prst="rect">
            <a:avLst/>
          </a:prstGeom>
          <a:noFill/>
        </p:spPr>
        <p:txBody>
          <a:bodyPr wrap="square" lIns="0" tIns="0" rIns="0" bIns="0" rtlCol="0" anchor="t"/>
          <a:lstStyle/>
          <a:p>
            <a:pPr marL="0" indent="0">
              <a:buNone/>
            </a:pPr>
            <a:r>
              <a:rPr lang="en-US" sz="1900" b="1" dirty="0">
                <a:solidFill>
                  <a:srgbClr val="931A1A"/>
                </a:solidFill>
                <a:latin typeface="Arial" panose="020B0604020202090204" pitchFamily="34" charset="0"/>
                <a:ea typeface="Arial" panose="020B0604020202090204" pitchFamily="34" charset="-122"/>
                <a:cs typeface="Arial" panose="020B0604020202090204" pitchFamily="34" charset="-120"/>
              </a:rPr>
              <a:t>TEAM NAME: </a:t>
            </a:r>
            <a:r>
              <a:rPr lang="en-US" sz="1900" dirty="0">
                <a:solidFill>
                  <a:srgbClr val="000000"/>
                </a:solidFill>
                <a:latin typeface="Arial" panose="020B0604020202090204" pitchFamily="34" charset="0"/>
                <a:ea typeface="Arial" panose="020B0604020202090204" pitchFamily="34" charset="-122"/>
                <a:cs typeface="Arial" panose="020B0604020202090204" pitchFamily="34" charset="-120"/>
              </a:rPr>
              <a:t>Byte Forge</a:t>
            </a:r>
            <a:endParaRPr lang="en-US" sz="1900" dirty="0"/>
          </a:p>
        </p:txBody>
      </p:sp>
      <p:sp>
        <p:nvSpPr>
          <p:cNvPr id="6" name="Text 3"/>
          <p:cNvSpPr/>
          <p:nvPr/>
        </p:nvSpPr>
        <p:spPr>
          <a:xfrm>
            <a:off x="822960" y="4219956"/>
            <a:ext cx="9326880" cy="562356"/>
          </a:xfrm>
          <a:prstGeom prst="rect">
            <a:avLst/>
          </a:prstGeom>
          <a:noFill/>
        </p:spPr>
        <p:txBody>
          <a:bodyPr wrap="square" lIns="0" tIns="0" rIns="0" bIns="0" rtlCol="0" anchor="t"/>
          <a:lstStyle/>
          <a:p>
            <a:pPr marL="0" indent="0">
              <a:buNone/>
            </a:pPr>
            <a:r>
              <a:rPr lang="en-US" sz="1900" b="1" dirty="0">
                <a:solidFill>
                  <a:srgbClr val="931A1A"/>
                </a:solidFill>
                <a:latin typeface="Arial" panose="020B0604020202090204" pitchFamily="34" charset="0"/>
                <a:ea typeface="Arial" panose="020B0604020202090204" pitchFamily="34" charset="-122"/>
                <a:cs typeface="Arial" panose="020B0604020202090204" pitchFamily="34" charset="-120"/>
              </a:rPr>
              <a:t>TEAM ID: </a:t>
            </a:r>
            <a:r>
              <a:rPr lang="en-US" sz="1900" dirty="0">
                <a:solidFill>
                  <a:srgbClr val="000000"/>
                </a:solidFill>
                <a:latin typeface="Arial" panose="020B0604020202090204" pitchFamily="34" charset="0"/>
                <a:ea typeface="Arial" panose="020B0604020202090204" pitchFamily="34" charset="-122"/>
                <a:cs typeface="Arial" panose="020B0604020202090204" pitchFamily="34" charset="-120"/>
              </a:rPr>
              <a:t>YS637</a:t>
            </a:r>
            <a:endParaRPr lang="en-US" sz="1900" dirty="0"/>
          </a:p>
        </p:txBody>
      </p:sp>
      <p:sp>
        <p:nvSpPr>
          <p:cNvPr id="7" name="Text 4"/>
          <p:cNvSpPr/>
          <p:nvPr/>
        </p:nvSpPr>
        <p:spPr>
          <a:xfrm>
            <a:off x="822960" y="4782312"/>
            <a:ext cx="9326880" cy="562356"/>
          </a:xfrm>
          <a:prstGeom prst="rect">
            <a:avLst/>
          </a:prstGeom>
          <a:noFill/>
        </p:spPr>
        <p:txBody>
          <a:bodyPr wrap="square" lIns="0" tIns="0" rIns="0" bIns="0" rtlCol="0" anchor="t"/>
          <a:lstStyle/>
          <a:p>
            <a:pPr marL="0" indent="0">
              <a:buNone/>
            </a:pPr>
            <a:r>
              <a:rPr lang="en-US" sz="1900" b="1" dirty="0">
                <a:solidFill>
                  <a:srgbClr val="931A1A"/>
                </a:solidFill>
                <a:latin typeface="Arial" panose="020B0604020202090204" pitchFamily="34" charset="0"/>
                <a:ea typeface="Arial" panose="020B0604020202090204" pitchFamily="34" charset="-122"/>
                <a:cs typeface="Arial" panose="020B0604020202090204" pitchFamily="34" charset="-120"/>
              </a:rPr>
              <a:t>PS ID: </a:t>
            </a:r>
            <a:r>
              <a:rPr lang="en-US" sz="1900" dirty="0">
                <a:solidFill>
                  <a:srgbClr val="000000"/>
                </a:solidFill>
                <a:latin typeface="Arial" panose="020B0604020202090204" pitchFamily="34" charset="0"/>
                <a:ea typeface="Arial" panose="020B0604020202090204" pitchFamily="34" charset="-122"/>
                <a:cs typeface="Arial" panose="020B0604020202090204" pitchFamily="34" charset="-120"/>
              </a:rPr>
              <a:t>25</a:t>
            </a:r>
            <a:endParaRPr lang="en-US" sz="1900" dirty="0"/>
          </a:p>
        </p:txBody>
      </p:sp>
      <p:sp>
        <p:nvSpPr>
          <p:cNvPr id="8" name="Text 5"/>
          <p:cNvSpPr/>
          <p:nvPr/>
        </p:nvSpPr>
        <p:spPr>
          <a:xfrm>
            <a:off x="822960" y="5344668"/>
            <a:ext cx="9326880" cy="562356"/>
          </a:xfrm>
          <a:prstGeom prst="rect">
            <a:avLst/>
          </a:prstGeom>
          <a:noFill/>
        </p:spPr>
        <p:txBody>
          <a:bodyPr wrap="square" lIns="0" tIns="0" rIns="0" bIns="0" rtlCol="0" anchor="t"/>
          <a:lstStyle/>
          <a:p>
            <a:pPr marL="0" indent="0">
              <a:buNone/>
            </a:pPr>
            <a:r>
              <a:rPr lang="en-US" sz="1900" b="1" dirty="0">
                <a:solidFill>
                  <a:srgbClr val="931A1A"/>
                </a:solidFill>
                <a:latin typeface="Arial" panose="020B0604020202090204" pitchFamily="34" charset="0"/>
                <a:ea typeface="Arial" panose="020B0604020202090204" pitchFamily="34" charset="-122"/>
                <a:cs typeface="Arial" panose="020B0604020202090204" pitchFamily="34" charset="-120"/>
              </a:rPr>
              <a:t>DOMAIN: </a:t>
            </a:r>
            <a:r>
              <a:rPr lang="en-US" sz="1900" dirty="0">
                <a:solidFill>
                  <a:srgbClr val="000000"/>
                </a:solidFill>
                <a:latin typeface="Arial" panose="020B0604020202090204" pitchFamily="34" charset="0"/>
                <a:ea typeface="Arial" panose="020B0604020202090204" pitchFamily="34" charset="-122"/>
                <a:cs typeface="Arial" panose="020B0604020202090204" pitchFamily="34" charset="-120"/>
              </a:rPr>
              <a:t>Artificial Intelligence and Automation</a:t>
            </a:r>
            <a:endParaRPr lang="en-US" sz="1900" dirty="0"/>
          </a:p>
        </p:txBody>
      </p:sp>
      <p:sp>
        <p:nvSpPr>
          <p:cNvPr id="9" name="Text 6"/>
          <p:cNvSpPr/>
          <p:nvPr/>
        </p:nvSpPr>
        <p:spPr>
          <a:xfrm>
            <a:off x="822960" y="5907024"/>
            <a:ext cx="9326880" cy="562356"/>
          </a:xfrm>
          <a:prstGeom prst="rect">
            <a:avLst/>
          </a:prstGeom>
          <a:noFill/>
        </p:spPr>
        <p:txBody>
          <a:bodyPr wrap="square" lIns="0" tIns="0" rIns="0" bIns="0" rtlCol="0" anchor="t"/>
          <a:lstStyle/>
          <a:p>
            <a:pPr marL="0" indent="0">
              <a:buNone/>
            </a:pPr>
            <a:r>
              <a:rPr lang="en-US" sz="1900" b="1" dirty="0">
                <a:solidFill>
                  <a:srgbClr val="931A1A"/>
                </a:solidFill>
                <a:latin typeface="Arial" panose="020B0604020202090204" pitchFamily="34" charset="0"/>
                <a:ea typeface="Arial" panose="020B0604020202090204" pitchFamily="34" charset="-122"/>
                <a:cs typeface="Arial" panose="020B0604020202090204" pitchFamily="34" charset="-120"/>
              </a:rPr>
              <a:t>TEAM LEADER NAME: </a:t>
            </a:r>
            <a:r>
              <a:rPr lang="en-US" sz="1900" dirty="0">
                <a:solidFill>
                  <a:srgbClr val="000000"/>
                </a:solidFill>
                <a:latin typeface="Arial" panose="020B0604020202090204" pitchFamily="34" charset="0"/>
                <a:ea typeface="Arial" panose="020B0604020202090204" pitchFamily="34" charset="-122"/>
                <a:cs typeface="Arial" panose="020B0604020202090204" pitchFamily="34" charset="-120"/>
              </a:rPr>
              <a:t>Vikhash.I</a:t>
            </a:r>
            <a:endParaRPr lang="en-US" sz="1900" dirty="0"/>
          </a:p>
        </p:txBody>
      </p:sp>
      <p:sp>
        <p:nvSpPr>
          <p:cNvPr id="10" name="Text 7"/>
          <p:cNvSpPr/>
          <p:nvPr/>
        </p:nvSpPr>
        <p:spPr>
          <a:xfrm>
            <a:off x="822960" y="6469380"/>
            <a:ext cx="9326880" cy="562356"/>
          </a:xfrm>
          <a:prstGeom prst="rect">
            <a:avLst/>
          </a:prstGeom>
          <a:noFill/>
        </p:spPr>
        <p:txBody>
          <a:bodyPr wrap="square" lIns="0" tIns="0" rIns="0" bIns="0" rtlCol="0" anchor="t"/>
          <a:lstStyle/>
          <a:p>
            <a:pPr marL="0" indent="0">
              <a:buNone/>
            </a:pPr>
            <a:r>
              <a:rPr lang="en-US" sz="1900" b="1" dirty="0">
                <a:solidFill>
                  <a:srgbClr val="931A1A"/>
                </a:solidFill>
                <a:latin typeface="Arial" panose="020B0604020202090204" pitchFamily="34" charset="0"/>
                <a:ea typeface="Arial" panose="020B0604020202090204" pitchFamily="34" charset="-122"/>
                <a:cs typeface="Arial" panose="020B0604020202090204" pitchFamily="34" charset="-120"/>
              </a:rPr>
              <a:t>MEMBER-1 NAME: </a:t>
            </a:r>
            <a:r>
              <a:rPr lang="en-US" sz="1900" dirty="0">
                <a:solidFill>
                  <a:srgbClr val="000000"/>
                </a:solidFill>
                <a:latin typeface="Arial" panose="020B0604020202090204" pitchFamily="34" charset="0"/>
                <a:ea typeface="Arial" panose="020B0604020202090204" pitchFamily="34" charset="-122"/>
                <a:cs typeface="Arial" panose="020B0604020202090204" pitchFamily="34" charset="-120"/>
              </a:rPr>
              <a:t>Noon Thavheeth.A</a:t>
            </a:r>
            <a:endParaRPr lang="en-US" sz="1900" dirty="0"/>
          </a:p>
        </p:txBody>
      </p:sp>
      <p:sp>
        <p:nvSpPr>
          <p:cNvPr id="11" name="Text 8"/>
          <p:cNvSpPr/>
          <p:nvPr/>
        </p:nvSpPr>
        <p:spPr>
          <a:xfrm>
            <a:off x="822960" y="7031736"/>
            <a:ext cx="9326880" cy="562356"/>
          </a:xfrm>
          <a:prstGeom prst="rect">
            <a:avLst/>
          </a:prstGeom>
          <a:noFill/>
        </p:spPr>
        <p:txBody>
          <a:bodyPr wrap="square" lIns="0" tIns="0" rIns="0" bIns="0" rtlCol="0" anchor="t"/>
          <a:lstStyle/>
          <a:p>
            <a:pPr marL="0" indent="0">
              <a:buNone/>
            </a:pPr>
            <a:r>
              <a:rPr lang="en-US" sz="1900" b="1" dirty="0">
                <a:solidFill>
                  <a:srgbClr val="931A1A"/>
                </a:solidFill>
                <a:latin typeface="Arial" panose="020B0604020202090204" pitchFamily="34" charset="0"/>
                <a:ea typeface="Arial" panose="020B0604020202090204" pitchFamily="34" charset="-122"/>
                <a:cs typeface="Arial" panose="020B0604020202090204" pitchFamily="34" charset="-120"/>
              </a:rPr>
              <a:t>MEMBER-2 NAME: </a:t>
            </a:r>
            <a:r>
              <a:rPr lang="en-US" sz="1900" dirty="0">
                <a:solidFill>
                  <a:srgbClr val="000000"/>
                </a:solidFill>
                <a:latin typeface="Arial" panose="020B0604020202090204" pitchFamily="34" charset="0"/>
                <a:ea typeface="Arial" panose="020B0604020202090204" pitchFamily="34" charset="-122"/>
                <a:cs typeface="Arial" panose="020B0604020202090204" pitchFamily="34" charset="-120"/>
              </a:rPr>
              <a:t>Dharsan Sri T.K</a:t>
            </a:r>
            <a:endParaRPr lang="en-US" sz="1900" dirty="0"/>
          </a:p>
        </p:txBody>
      </p:sp>
      <p:sp>
        <p:nvSpPr>
          <p:cNvPr id="12" name="Text 9"/>
          <p:cNvSpPr/>
          <p:nvPr/>
        </p:nvSpPr>
        <p:spPr>
          <a:xfrm>
            <a:off x="822960" y="7594092"/>
            <a:ext cx="9326880" cy="562356"/>
          </a:xfrm>
          <a:prstGeom prst="rect">
            <a:avLst/>
          </a:prstGeom>
          <a:noFill/>
        </p:spPr>
        <p:txBody>
          <a:bodyPr wrap="square" lIns="0" tIns="0" rIns="0" bIns="0" rtlCol="0" anchor="t"/>
          <a:lstStyle/>
          <a:p>
            <a:pPr marL="0" indent="0">
              <a:buNone/>
            </a:pPr>
            <a:r>
              <a:rPr lang="en-US" sz="1900" b="1" dirty="0">
                <a:solidFill>
                  <a:srgbClr val="931A1A"/>
                </a:solidFill>
                <a:latin typeface="Arial" panose="020B0604020202090204" pitchFamily="34" charset="0"/>
                <a:ea typeface="Arial" panose="020B0604020202090204" pitchFamily="34" charset="-122"/>
                <a:cs typeface="Arial" panose="020B0604020202090204" pitchFamily="34" charset="-120"/>
              </a:rPr>
              <a:t>MEMBER-3 NAME: </a:t>
            </a:r>
            <a:r>
              <a:rPr lang="en-US" sz="1900" dirty="0">
                <a:solidFill>
                  <a:srgbClr val="000000"/>
                </a:solidFill>
                <a:latin typeface="Arial" panose="020B0604020202090204" pitchFamily="34" charset="0"/>
                <a:ea typeface="Arial" panose="020B0604020202090204" pitchFamily="34" charset="-122"/>
                <a:cs typeface="Arial" panose="020B0604020202090204" pitchFamily="34" charset="-120"/>
              </a:rPr>
              <a:t>Harshan Muthaiya.M</a:t>
            </a:r>
            <a:endParaRPr lang="en-US" sz="1900" dirty="0"/>
          </a:p>
        </p:txBody>
      </p:sp>
      <p:sp>
        <p:nvSpPr>
          <p:cNvPr id="13" name="Text 10"/>
          <p:cNvSpPr/>
          <p:nvPr/>
        </p:nvSpPr>
        <p:spPr>
          <a:xfrm>
            <a:off x="822960" y="8156448"/>
            <a:ext cx="9326880" cy="562356"/>
          </a:xfrm>
          <a:prstGeom prst="rect">
            <a:avLst/>
          </a:prstGeom>
          <a:noFill/>
        </p:spPr>
        <p:txBody>
          <a:bodyPr wrap="square" lIns="0" tIns="0" rIns="0" bIns="0" rtlCol="0" anchor="t"/>
          <a:lstStyle/>
          <a:p>
            <a:pPr marL="0" indent="0">
              <a:buNone/>
            </a:pPr>
            <a:r>
              <a:rPr lang="en-US" sz="1900" b="1" dirty="0">
                <a:solidFill>
                  <a:srgbClr val="931A1A"/>
                </a:solidFill>
                <a:latin typeface="Arial" panose="020B0604020202090204" pitchFamily="34" charset="0"/>
                <a:ea typeface="Arial" panose="020B0604020202090204" pitchFamily="34" charset="-122"/>
                <a:cs typeface="Arial" panose="020B0604020202090204" pitchFamily="34" charset="-120"/>
              </a:rPr>
              <a:t>MEMBER-4 NAME: </a:t>
            </a:r>
            <a:r>
              <a:rPr lang="en-US" sz="1900" dirty="0">
                <a:solidFill>
                  <a:srgbClr val="000000"/>
                </a:solidFill>
                <a:latin typeface="Arial" panose="020B0604020202090204" pitchFamily="34" charset="0"/>
                <a:ea typeface="Arial" panose="020B0604020202090204" pitchFamily="34" charset="-122"/>
                <a:cs typeface="Arial" panose="020B0604020202090204" pitchFamily="34" charset="-120"/>
              </a:rPr>
              <a:t>Salai Sivapackiyan.S</a:t>
            </a:r>
            <a:endParaRPr lang="en-US" sz="1900" dirty="0"/>
          </a:p>
        </p:txBody>
      </p:sp>
      <p:sp>
        <p:nvSpPr>
          <p:cNvPr id="14" name="Text 11"/>
          <p:cNvSpPr/>
          <p:nvPr/>
        </p:nvSpPr>
        <p:spPr>
          <a:xfrm>
            <a:off x="822960" y="8718804"/>
            <a:ext cx="9326880" cy="562356"/>
          </a:xfrm>
          <a:prstGeom prst="rect">
            <a:avLst/>
          </a:prstGeom>
          <a:noFill/>
        </p:spPr>
        <p:txBody>
          <a:bodyPr wrap="square" lIns="0" tIns="0" rIns="0" bIns="0" rtlCol="0" anchor="t"/>
          <a:lstStyle/>
          <a:p>
            <a:pPr marL="0" indent="0">
              <a:buNone/>
            </a:pPr>
            <a:r>
              <a:rPr lang="en-US" sz="1900" b="1" dirty="0">
                <a:solidFill>
                  <a:srgbClr val="931A1A"/>
                </a:solidFill>
                <a:latin typeface="Arial" panose="020B0604020202090204" pitchFamily="34" charset="0"/>
                <a:ea typeface="Arial" panose="020B0604020202090204" pitchFamily="34" charset="-122"/>
                <a:cs typeface="Arial" panose="020B0604020202090204" pitchFamily="34" charset="-120"/>
              </a:rPr>
              <a:t>MEMBER-5 NAME: </a:t>
            </a:r>
            <a:r>
              <a:rPr lang="en-US" sz="1900" dirty="0">
                <a:solidFill>
                  <a:srgbClr val="000000"/>
                </a:solidFill>
                <a:latin typeface="Arial" panose="020B0604020202090204" pitchFamily="34" charset="0"/>
                <a:ea typeface="Arial" panose="020B0604020202090204" pitchFamily="34" charset="-122"/>
                <a:cs typeface="Arial" panose="020B0604020202090204" pitchFamily="34" charset="-120"/>
              </a:rPr>
              <a:t>Dhuvaragesh.V</a:t>
            </a:r>
            <a:endParaRPr lang="en-US" sz="1900" dirty="0"/>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work/bg/02_problem.png"/>
          <p:cNvPicPr>
            <a:picLocks noChangeAspect="1"/>
          </p:cNvPicPr>
          <p:nvPr/>
        </p:nvPicPr>
        <p:blipFill>
          <a:blip r:embed="rId1"/>
          <a:stretch>
            <a:fillRect/>
          </a:stretch>
        </p:blipFill>
        <p:spPr>
          <a:xfrm>
            <a:off x="0" y="0"/>
            <a:ext cx="18288000" cy="10287000"/>
          </a:xfrm>
          <a:prstGeom prst="rect">
            <a:avLst/>
          </a:prstGeom>
        </p:spPr>
      </p:pic>
      <p:sp>
        <p:nvSpPr>
          <p:cNvPr id="3" name="Text 0"/>
          <p:cNvSpPr/>
          <p:nvPr/>
        </p:nvSpPr>
        <p:spPr>
          <a:xfrm>
            <a:off x="685800" y="3063240"/>
            <a:ext cx="18940145" cy="9032875"/>
          </a:xfrm>
          <a:prstGeom prst="rect">
            <a:avLst/>
          </a:prstGeom>
          <a:noFill/>
        </p:spPr>
        <p:txBody>
          <a:bodyPr wrap="square" lIns="0" tIns="0" rIns="0" bIns="0" rtlCol="0" anchor="t"/>
          <a:lstStyle/>
          <a:p>
            <a:pPr marL="355600" indent="-355600">
              <a:lnSpc>
                <a:spcPct val="130000"/>
              </a:lnSpc>
              <a:spcAft>
                <a:spcPts val="1600"/>
              </a:spcAft>
              <a:buSzPct val="100000"/>
              <a:buChar char="▪"/>
            </a:pPr>
            <a:r>
              <a:rPr lang="en-US" altLang="en-US" sz="3500" dirty="0"/>
              <a:t> Information comes in different forms like reports, articles, images and videos.</a:t>
            </a:r>
            <a:endParaRPr lang="en-US" altLang="en-US" sz="3500" dirty="0"/>
          </a:p>
          <a:p>
            <a:pPr marL="355600" indent="-355600">
              <a:lnSpc>
                <a:spcPct val="130000"/>
              </a:lnSpc>
              <a:spcAft>
                <a:spcPts val="1600"/>
              </a:spcAft>
              <a:buSzPct val="100000"/>
              <a:buChar char="▪"/>
            </a:pPr>
            <a:r>
              <a:rPr lang="en-US" altLang="en-US" sz="3500" dirty="0"/>
              <a:t> Creating separate content for each platform takes more time and effort.</a:t>
            </a:r>
            <a:endParaRPr lang="en-US" altLang="en-US" sz="3500" dirty="0"/>
          </a:p>
          <a:p>
            <a:pPr marL="355600" indent="-355600">
              <a:lnSpc>
                <a:spcPct val="130000"/>
              </a:lnSpc>
              <a:spcAft>
                <a:spcPts val="1600"/>
              </a:spcAft>
              <a:buSzPct val="100000"/>
              <a:buChar char="▪"/>
            </a:pPr>
            <a:r>
              <a:rPr lang="en-US" altLang="en-US" sz="3500" dirty="0"/>
              <a:t>Different versions can have mismatched facts, figures and details.</a:t>
            </a:r>
            <a:endParaRPr lang="en-US" altLang="en-US" sz="3500" dirty="0"/>
          </a:p>
          <a:p>
            <a:pPr marL="355600" indent="-355600">
              <a:lnSpc>
                <a:spcPct val="130000"/>
              </a:lnSpc>
              <a:spcAft>
                <a:spcPts val="1600"/>
              </a:spcAft>
              <a:buSzPct val="100000"/>
              <a:buChar char="▪"/>
            </a:pPr>
            <a:r>
              <a:rPr lang="en-US" altLang="en-US" sz="3500" dirty="0"/>
              <a:t> There is no single system to convert one source into multiple formats consistently.</a:t>
            </a:r>
            <a:endParaRPr lang="en-US" altLang="en-US" sz="3500" dirty="0"/>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work/bg/03_solution.png"/>
          <p:cNvPicPr>
            <a:picLocks noChangeAspect="1"/>
          </p:cNvPicPr>
          <p:nvPr/>
        </p:nvPicPr>
        <p:blipFill>
          <a:blip r:embed="rId1"/>
          <a:stretch>
            <a:fillRect/>
          </a:stretch>
        </p:blipFill>
        <p:spPr>
          <a:xfrm>
            <a:off x="0" y="0"/>
            <a:ext cx="18288000" cy="10287000"/>
          </a:xfrm>
          <a:prstGeom prst="rect">
            <a:avLst/>
          </a:prstGeom>
        </p:spPr>
      </p:pic>
      <p:sp>
        <p:nvSpPr>
          <p:cNvPr id="3" name="Text 0"/>
          <p:cNvSpPr/>
          <p:nvPr/>
        </p:nvSpPr>
        <p:spPr>
          <a:xfrm>
            <a:off x="685800" y="3063240"/>
            <a:ext cx="16733520" cy="6949440"/>
          </a:xfrm>
          <a:prstGeom prst="rect">
            <a:avLst/>
          </a:prstGeom>
          <a:noFill/>
        </p:spPr>
        <p:txBody>
          <a:bodyPr wrap="square" lIns="0" tIns="0" rIns="0" bIns="0" rtlCol="0" anchor="t"/>
          <a:lstStyle/>
          <a:p>
            <a:pPr marL="355600" indent="-355600">
              <a:lnSpc>
                <a:spcPct val="130000"/>
              </a:lnSpc>
              <a:spcAft>
                <a:spcPts val="1600"/>
              </a:spcAft>
              <a:buSzPct val="100000"/>
              <a:buChar char="▪"/>
            </a:pPr>
            <a:r>
              <a:rPr lang="en-US" sz="2100" dirty="0">
                <a:solidFill>
                  <a:srgbClr val="2B2B2B"/>
                </a:solidFill>
                <a:latin typeface="Arial" panose="020B0604020202090204" pitchFamily="34" charset="0"/>
                <a:ea typeface="Arial" panose="020B0604020202090204" pitchFamily="34" charset="-122"/>
                <a:cs typeface="Arial" panose="020B0604020202090204" pitchFamily="34" charset="-120"/>
              </a:rPr>
              <a:t>The proposed system takes in the source material, whether it is text, a document, an image, a video or a written prompt, and organizes the important facts, people and context into one structured record, so the same information does not have to be re-entered for each format.</a:t>
            </a:r>
            <a:endParaRPr lang="en-US" sz="2100" dirty="0"/>
          </a:p>
          <a:p>
            <a:pPr marL="355600" indent="-355600">
              <a:lnSpc>
                <a:spcPct val="130000"/>
              </a:lnSpc>
              <a:spcAft>
                <a:spcPts val="1600"/>
              </a:spcAft>
              <a:buSzPct val="100000"/>
              <a:buChar char="▪"/>
            </a:pPr>
            <a:r>
              <a:rPr lang="en-US" sz="2100" dirty="0">
                <a:solidFill>
                  <a:srgbClr val="2B2B2B"/>
                </a:solidFill>
                <a:latin typeface="Arial" panose="020B0604020202090204" pitchFamily="34" charset="0"/>
                <a:ea typeface="Arial" panose="020B0604020202090204" pitchFamily="34" charset="-122"/>
                <a:cs typeface="Arial" panose="020B0604020202090204" pitchFamily="34" charset="-120"/>
              </a:rPr>
              <a:t>The user selects the audience, tone, language, purpose and level of detail once, and these settings are applied while every output format is being prepared.</a:t>
            </a:r>
            <a:endParaRPr lang="en-US" sz="2100" dirty="0"/>
          </a:p>
          <a:p>
            <a:pPr marL="355600" indent="-355600">
              <a:lnSpc>
                <a:spcPct val="130000"/>
              </a:lnSpc>
              <a:spcAft>
                <a:spcPts val="1600"/>
              </a:spcAft>
              <a:buSzPct val="100000"/>
              <a:buChar char="▪"/>
            </a:pPr>
            <a:r>
              <a:rPr lang="en-US" sz="2100" dirty="0">
                <a:solidFill>
                  <a:srgbClr val="2B2B2B"/>
                </a:solidFill>
                <a:latin typeface="Arial" panose="020B0604020202090204" pitchFamily="34" charset="0"/>
                <a:ea typeface="Arial" panose="020B0604020202090204" pitchFamily="34" charset="-122"/>
                <a:cs typeface="Arial" panose="020B0604020202090204" pitchFamily="34" charset="-120"/>
              </a:rPr>
              <a:t>Separate modules are used to prepare the presentation, social media post, advisory, video script and infographic. All of them refer back to the same structured record, so the information stays consistent across formats.</a:t>
            </a:r>
            <a:endParaRPr lang="en-US" sz="2100" dirty="0"/>
          </a:p>
          <a:p>
            <a:pPr marL="355600" indent="-355600">
              <a:lnSpc>
                <a:spcPct val="130000"/>
              </a:lnSpc>
              <a:spcAft>
                <a:spcPts val="1600"/>
              </a:spcAft>
              <a:buSzPct val="100000"/>
              <a:buChar char="▪"/>
            </a:pPr>
            <a:r>
              <a:rPr lang="en-US" sz="2100" dirty="0">
                <a:solidFill>
                  <a:srgbClr val="2B2B2B"/>
                </a:solidFill>
                <a:latin typeface="Arial" panose="020B0604020202090204" pitchFamily="34" charset="0"/>
                <a:ea typeface="Arial" panose="020B0604020202090204" pitchFamily="34" charset="-122"/>
                <a:cs typeface="Arial" panose="020B0604020202090204" pitchFamily="34" charset="-120"/>
              </a:rPr>
              <a:t>Before any output is finalized, the system checks it against the original information to catch figures or statements that do not match.</a:t>
            </a:r>
            <a:endParaRPr lang="en-US" sz="2100" dirty="0"/>
          </a:p>
          <a:p>
            <a:pPr marL="355600" indent="-355600">
              <a:lnSpc>
                <a:spcPct val="130000"/>
              </a:lnSpc>
              <a:spcAft>
                <a:spcPts val="1600"/>
              </a:spcAft>
              <a:buSzPct val="100000"/>
              <a:buChar char="▪"/>
            </a:pPr>
            <a:r>
              <a:rPr lang="en-US" sz="2100" dirty="0">
                <a:solidFill>
                  <a:srgbClr val="2B2B2B"/>
                </a:solidFill>
                <a:latin typeface="Arial" panose="020B0604020202090204" pitchFamily="34" charset="0"/>
                <a:ea typeface="Arial" panose="020B0604020202090204" pitchFamily="34" charset="-122"/>
                <a:cs typeface="Arial" panose="020B0604020202090204" pitchFamily="34" charset="-120"/>
              </a:rPr>
              <a:t>The user can review, edit and download each format from one place. Earlier versions are kept so that any changes can be tracked later.</a:t>
            </a:r>
            <a:endParaRPr lang="en-US" sz="2100" dirty="0"/>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work/bg/04_objective.png"/>
          <p:cNvPicPr>
            <a:picLocks noChangeAspect="1"/>
          </p:cNvPicPr>
          <p:nvPr/>
        </p:nvPicPr>
        <p:blipFill>
          <a:blip r:embed="rId1"/>
          <a:stretch>
            <a:fillRect/>
          </a:stretch>
        </p:blipFill>
        <p:spPr>
          <a:xfrm>
            <a:off x="0" y="0"/>
            <a:ext cx="18288000" cy="10287000"/>
          </a:xfrm>
          <a:prstGeom prst="rect">
            <a:avLst/>
          </a:prstGeom>
        </p:spPr>
      </p:pic>
      <p:sp>
        <p:nvSpPr>
          <p:cNvPr id="3" name="Text 0"/>
          <p:cNvSpPr/>
          <p:nvPr/>
        </p:nvSpPr>
        <p:spPr>
          <a:xfrm>
            <a:off x="685800" y="3063240"/>
            <a:ext cx="16733520" cy="6949440"/>
          </a:xfrm>
          <a:prstGeom prst="rect">
            <a:avLst/>
          </a:prstGeom>
          <a:noFill/>
        </p:spPr>
        <p:txBody>
          <a:bodyPr wrap="square" lIns="0" tIns="0" rIns="0" bIns="0" rtlCol="0" anchor="t"/>
          <a:lstStyle/>
          <a:p>
            <a:pPr marL="355600" indent="-355600">
              <a:lnSpc>
                <a:spcPct val="130000"/>
              </a:lnSpc>
              <a:spcAft>
                <a:spcPts val="1600"/>
              </a:spcAft>
              <a:buSzPct val="100000"/>
              <a:buChar char="▪"/>
            </a:pPr>
            <a:r>
              <a:rPr lang="en-US" sz="2700" dirty="0">
                <a:solidFill>
                  <a:srgbClr val="2B2B2B"/>
                </a:solidFill>
                <a:latin typeface="Arial" panose="020B0604020202090204" pitchFamily="34" charset="0"/>
                <a:ea typeface="Arial" panose="020B0604020202090204" pitchFamily="34" charset="-122"/>
                <a:cs typeface="Arial" panose="020B0604020202090204" pitchFamily="34" charset="-120"/>
              </a:rPr>
              <a:t>To reduce the time spent manually converting one piece of information into several different formats.</a:t>
            </a:r>
            <a:endParaRPr lang="en-US" sz="2700" dirty="0"/>
          </a:p>
          <a:p>
            <a:pPr marL="355600" indent="-355600">
              <a:lnSpc>
                <a:spcPct val="130000"/>
              </a:lnSpc>
              <a:spcAft>
                <a:spcPts val="1600"/>
              </a:spcAft>
              <a:buSzPct val="100000"/>
              <a:buChar char="▪"/>
            </a:pPr>
            <a:r>
              <a:rPr lang="en-US" sz="2700" dirty="0">
                <a:solidFill>
                  <a:srgbClr val="2B2B2B"/>
                </a:solidFill>
                <a:latin typeface="Arial" panose="020B0604020202090204" pitchFamily="34" charset="0"/>
                <a:ea typeface="Arial" panose="020B0604020202090204" pitchFamily="34" charset="-122"/>
                <a:cs typeface="Arial" panose="020B0604020202090204" pitchFamily="34" charset="-120"/>
              </a:rPr>
              <a:t>To keep facts and context accurate and consistent across every format that is generated from the same source.</a:t>
            </a:r>
            <a:endParaRPr lang="en-US" sz="2700" dirty="0"/>
          </a:p>
          <a:p>
            <a:pPr marL="355600" indent="-355600">
              <a:lnSpc>
                <a:spcPct val="130000"/>
              </a:lnSpc>
              <a:spcAft>
                <a:spcPts val="1600"/>
              </a:spcAft>
              <a:buSzPct val="100000"/>
              <a:buChar char="▪"/>
            </a:pPr>
            <a:r>
              <a:rPr lang="en-US" sz="2700" dirty="0">
                <a:solidFill>
                  <a:srgbClr val="2B2B2B"/>
                </a:solidFill>
                <a:latin typeface="Arial" panose="020B0604020202090204" pitchFamily="34" charset="0"/>
                <a:ea typeface="Arial" panose="020B0604020202090204" pitchFamily="34" charset="-122"/>
                <a:cs typeface="Arial" panose="020B0604020202090204" pitchFamily="34" charset="-120"/>
              </a:rPr>
              <a:t>To allow the audience, tone, language, purpose and level of detail to be set separately for each output.</a:t>
            </a:r>
            <a:endParaRPr lang="en-US" sz="2700" dirty="0"/>
          </a:p>
          <a:p>
            <a:pPr marL="355600" indent="-355600">
              <a:lnSpc>
                <a:spcPct val="130000"/>
              </a:lnSpc>
              <a:spcAft>
                <a:spcPts val="1600"/>
              </a:spcAft>
              <a:buSzPct val="100000"/>
              <a:buChar char="▪"/>
            </a:pPr>
            <a:r>
              <a:rPr lang="en-US" sz="2700" dirty="0">
                <a:solidFill>
                  <a:srgbClr val="2B2B2B"/>
                </a:solidFill>
                <a:latin typeface="Arial" panose="020B0604020202090204" pitchFamily="34" charset="0"/>
                <a:ea typeface="Arial" panose="020B0604020202090204" pitchFamily="34" charset="-122"/>
                <a:cs typeface="Arial" panose="020B0604020202090204" pitchFamily="34" charset="-120"/>
              </a:rPr>
              <a:t>To accept source material in different forms, including text, documents, images and video.</a:t>
            </a:r>
            <a:endParaRPr lang="en-US" sz="2700" dirty="0"/>
          </a:p>
          <a:p>
            <a:pPr marL="355600" indent="-355600">
              <a:lnSpc>
                <a:spcPct val="130000"/>
              </a:lnSpc>
              <a:spcAft>
                <a:spcPts val="1600"/>
              </a:spcAft>
              <a:buSzPct val="100000"/>
              <a:buChar char="▪"/>
            </a:pPr>
            <a:r>
              <a:rPr lang="en-US" sz="2700" dirty="0">
                <a:solidFill>
                  <a:srgbClr val="2B2B2B"/>
                </a:solidFill>
                <a:latin typeface="Arial" panose="020B0604020202090204" pitchFamily="34" charset="0"/>
                <a:ea typeface="Arial" panose="020B0604020202090204" pitchFamily="34" charset="-122"/>
                <a:cs typeface="Arial" panose="020B0604020202090204" pitchFamily="34" charset="-120"/>
              </a:rPr>
              <a:t>To let the user review and edit the generated content before it is shared or published.</a:t>
            </a:r>
            <a:endParaRPr lang="en-US" sz="2700" dirty="0"/>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work/bg/05_methodology.png"/>
          <p:cNvPicPr>
            <a:picLocks noChangeAspect="1"/>
          </p:cNvPicPr>
          <p:nvPr/>
        </p:nvPicPr>
        <p:blipFill>
          <a:blip r:embed="rId1"/>
          <a:stretch>
            <a:fillRect/>
          </a:stretch>
        </p:blipFill>
        <p:spPr>
          <a:xfrm>
            <a:off x="0" y="0"/>
            <a:ext cx="18288000" cy="10287000"/>
          </a:xfrm>
          <a:prstGeom prst="rect">
            <a:avLst/>
          </a:prstGeom>
        </p:spPr>
      </p:pic>
      <p:sp>
        <p:nvSpPr>
          <p:cNvPr id="3" name="Shape 0"/>
          <p:cNvSpPr/>
          <p:nvPr/>
        </p:nvSpPr>
        <p:spPr>
          <a:xfrm>
            <a:off x="777240" y="3108960"/>
            <a:ext cx="594360" cy="594360"/>
          </a:xfrm>
          <a:prstGeom prst="ellipse">
            <a:avLst/>
          </a:prstGeom>
          <a:solidFill>
            <a:srgbClr val="931A1A"/>
          </a:solidFill>
        </p:spPr>
      </p:sp>
      <p:sp>
        <p:nvSpPr>
          <p:cNvPr id="4" name="Text 1"/>
          <p:cNvSpPr/>
          <p:nvPr/>
        </p:nvSpPr>
        <p:spPr>
          <a:xfrm>
            <a:off x="777240" y="3108960"/>
            <a:ext cx="594360" cy="594360"/>
          </a:xfrm>
          <a:prstGeom prst="rect">
            <a:avLst/>
          </a:prstGeom>
          <a:noFill/>
        </p:spPr>
        <p:txBody>
          <a:bodyPr wrap="square" lIns="0" tIns="0" rIns="0" bIns="0" rtlCol="0" anchor="ctr"/>
          <a:lstStyle/>
          <a:p>
            <a:pPr marL="0" indent="0" algn="ctr">
              <a:buNone/>
            </a:pPr>
            <a:r>
              <a:rPr lang="en-US" sz="2200" b="1" dirty="0">
                <a:solidFill>
                  <a:srgbClr val="FFFFFF"/>
                </a:solidFill>
                <a:latin typeface="Arial" panose="020B0604020202090204" pitchFamily="34" charset="0"/>
                <a:ea typeface="Arial" panose="020B0604020202090204" pitchFamily="34" charset="-122"/>
                <a:cs typeface="Arial" panose="020B0604020202090204" pitchFamily="34" charset="-120"/>
              </a:rPr>
              <a:t>1</a:t>
            </a:r>
            <a:endParaRPr lang="en-US" sz="2200" dirty="0"/>
          </a:p>
        </p:txBody>
      </p:sp>
      <p:sp>
        <p:nvSpPr>
          <p:cNvPr id="5" name="Text 2"/>
          <p:cNvSpPr/>
          <p:nvPr/>
        </p:nvSpPr>
        <p:spPr>
          <a:xfrm>
            <a:off x="1737360" y="3063240"/>
            <a:ext cx="15636240" cy="978408"/>
          </a:xfrm>
          <a:prstGeom prst="rect">
            <a:avLst/>
          </a:prstGeom>
          <a:noFill/>
        </p:spPr>
        <p:txBody>
          <a:bodyPr wrap="square" lIns="0" tIns="0" rIns="0" bIns="0" rtlCol="0" anchor="t"/>
          <a:lstStyle/>
          <a:p>
            <a:pPr marL="0" indent="0">
              <a:lnSpc>
                <a:spcPct val="115000"/>
              </a:lnSpc>
              <a:buNone/>
            </a:pPr>
            <a:r>
              <a:rPr lang="en-US" sz="2000" b="1" dirty="0">
                <a:solidFill>
                  <a:srgbClr val="931A1A"/>
                </a:solidFill>
                <a:latin typeface="Arial" panose="020B0604020202090204" pitchFamily="34" charset="0"/>
                <a:ea typeface="Arial" panose="020B0604020202090204" pitchFamily="34" charset="-122"/>
                <a:cs typeface="Arial" panose="020B0604020202090204" pitchFamily="34" charset="-120"/>
              </a:rPr>
              <a:t>Collecting and reading the input.  </a:t>
            </a:r>
            <a:r>
              <a:rPr lang="en-US" sz="1800" dirty="0">
                <a:solidFill>
                  <a:srgbClr val="2B2B2B"/>
                </a:solidFill>
                <a:latin typeface="Arial" panose="020B0604020202090204" pitchFamily="34" charset="0"/>
                <a:ea typeface="Arial" panose="020B0604020202090204" pitchFamily="34" charset="-122"/>
                <a:cs typeface="Arial" panose="020B0604020202090204" pitchFamily="34" charset="-120"/>
              </a:rPr>
              <a:t>Text is read directly from documents, audio and video are converted to text, and any text inside images is pulled out using OCR.</a:t>
            </a:r>
            <a:endParaRPr lang="en-US" sz="2000" dirty="0"/>
          </a:p>
        </p:txBody>
      </p:sp>
      <p:sp>
        <p:nvSpPr>
          <p:cNvPr id="6" name="Shape 3"/>
          <p:cNvSpPr/>
          <p:nvPr/>
        </p:nvSpPr>
        <p:spPr>
          <a:xfrm>
            <a:off x="777240" y="4224528"/>
            <a:ext cx="594360" cy="594360"/>
          </a:xfrm>
          <a:prstGeom prst="ellipse">
            <a:avLst/>
          </a:prstGeom>
          <a:solidFill>
            <a:srgbClr val="931A1A"/>
          </a:solidFill>
        </p:spPr>
      </p:sp>
      <p:sp>
        <p:nvSpPr>
          <p:cNvPr id="7" name="Text 4"/>
          <p:cNvSpPr/>
          <p:nvPr/>
        </p:nvSpPr>
        <p:spPr>
          <a:xfrm>
            <a:off x="777240" y="4224528"/>
            <a:ext cx="594360" cy="594360"/>
          </a:xfrm>
          <a:prstGeom prst="rect">
            <a:avLst/>
          </a:prstGeom>
          <a:noFill/>
        </p:spPr>
        <p:txBody>
          <a:bodyPr wrap="square" lIns="0" tIns="0" rIns="0" bIns="0" rtlCol="0" anchor="ctr"/>
          <a:lstStyle/>
          <a:p>
            <a:pPr marL="0" indent="0" algn="ctr">
              <a:buNone/>
            </a:pPr>
            <a:r>
              <a:rPr lang="en-US" sz="2200" b="1" dirty="0">
                <a:solidFill>
                  <a:srgbClr val="FFFFFF"/>
                </a:solidFill>
                <a:latin typeface="Arial" panose="020B0604020202090204" pitchFamily="34" charset="0"/>
                <a:ea typeface="Arial" panose="020B0604020202090204" pitchFamily="34" charset="-122"/>
                <a:cs typeface="Arial" panose="020B0604020202090204" pitchFamily="34" charset="-120"/>
              </a:rPr>
              <a:t>2</a:t>
            </a:r>
            <a:endParaRPr lang="en-US" sz="2200" dirty="0"/>
          </a:p>
        </p:txBody>
      </p:sp>
      <p:sp>
        <p:nvSpPr>
          <p:cNvPr id="8" name="Text 5"/>
          <p:cNvSpPr/>
          <p:nvPr/>
        </p:nvSpPr>
        <p:spPr>
          <a:xfrm>
            <a:off x="1737360" y="4178808"/>
            <a:ext cx="15636240" cy="978408"/>
          </a:xfrm>
          <a:prstGeom prst="rect">
            <a:avLst/>
          </a:prstGeom>
          <a:noFill/>
        </p:spPr>
        <p:txBody>
          <a:bodyPr wrap="square" lIns="0" tIns="0" rIns="0" bIns="0" rtlCol="0" anchor="t"/>
          <a:lstStyle/>
          <a:p>
            <a:pPr marL="0" indent="0">
              <a:lnSpc>
                <a:spcPct val="115000"/>
              </a:lnSpc>
              <a:buNone/>
            </a:pPr>
            <a:r>
              <a:rPr lang="en-US" sz="2000" b="1" dirty="0">
                <a:solidFill>
                  <a:srgbClr val="931A1A"/>
                </a:solidFill>
                <a:latin typeface="Arial" panose="020B0604020202090204" pitchFamily="34" charset="0"/>
                <a:ea typeface="Arial" panose="020B0604020202090204" pitchFamily="34" charset="-122"/>
                <a:cs typeface="Arial" panose="020B0604020202090204" pitchFamily="34" charset="-120"/>
              </a:rPr>
              <a:t>Understanding the content.  </a:t>
            </a:r>
            <a:r>
              <a:rPr lang="en-US" sz="1800" dirty="0">
                <a:solidFill>
                  <a:srgbClr val="2B2B2B"/>
                </a:solidFill>
                <a:latin typeface="Arial" panose="020B0604020202090204" pitchFamily="34" charset="0"/>
                <a:ea typeface="Arial" panose="020B0604020202090204" pitchFamily="34" charset="-122"/>
                <a:cs typeface="Arial" panose="020B0604020202090204" pitchFamily="34" charset="-120"/>
              </a:rPr>
              <a:t>The important facts, people and relationships in the material are identified and stored in a structured form.</a:t>
            </a:r>
            <a:endParaRPr lang="en-US" sz="2000" dirty="0"/>
          </a:p>
        </p:txBody>
      </p:sp>
      <p:sp>
        <p:nvSpPr>
          <p:cNvPr id="9" name="Shape 6"/>
          <p:cNvSpPr/>
          <p:nvPr/>
        </p:nvSpPr>
        <p:spPr>
          <a:xfrm>
            <a:off x="777240" y="5340096"/>
            <a:ext cx="594360" cy="594360"/>
          </a:xfrm>
          <a:prstGeom prst="ellipse">
            <a:avLst/>
          </a:prstGeom>
          <a:solidFill>
            <a:srgbClr val="931A1A"/>
          </a:solidFill>
        </p:spPr>
      </p:sp>
      <p:sp>
        <p:nvSpPr>
          <p:cNvPr id="10" name="Text 7"/>
          <p:cNvSpPr/>
          <p:nvPr/>
        </p:nvSpPr>
        <p:spPr>
          <a:xfrm>
            <a:off x="777240" y="5340096"/>
            <a:ext cx="594360" cy="594360"/>
          </a:xfrm>
          <a:prstGeom prst="rect">
            <a:avLst/>
          </a:prstGeom>
          <a:noFill/>
        </p:spPr>
        <p:txBody>
          <a:bodyPr wrap="square" lIns="0" tIns="0" rIns="0" bIns="0" rtlCol="0" anchor="ctr"/>
          <a:lstStyle/>
          <a:p>
            <a:pPr marL="0" indent="0" algn="ctr">
              <a:buNone/>
            </a:pPr>
            <a:r>
              <a:rPr lang="en-US" sz="2200" b="1" dirty="0">
                <a:solidFill>
                  <a:srgbClr val="FFFFFF"/>
                </a:solidFill>
                <a:latin typeface="Arial" panose="020B0604020202090204" pitchFamily="34" charset="0"/>
                <a:ea typeface="Arial" panose="020B0604020202090204" pitchFamily="34" charset="-122"/>
                <a:cs typeface="Arial" panose="020B0604020202090204" pitchFamily="34" charset="-120"/>
              </a:rPr>
              <a:t>3</a:t>
            </a:r>
            <a:endParaRPr lang="en-US" sz="2200" dirty="0"/>
          </a:p>
        </p:txBody>
      </p:sp>
      <p:sp>
        <p:nvSpPr>
          <p:cNvPr id="11" name="Text 8"/>
          <p:cNvSpPr/>
          <p:nvPr/>
        </p:nvSpPr>
        <p:spPr>
          <a:xfrm>
            <a:off x="1737360" y="5294376"/>
            <a:ext cx="15636240" cy="978408"/>
          </a:xfrm>
          <a:prstGeom prst="rect">
            <a:avLst/>
          </a:prstGeom>
          <a:noFill/>
        </p:spPr>
        <p:txBody>
          <a:bodyPr wrap="square" lIns="0" tIns="0" rIns="0" bIns="0" rtlCol="0" anchor="t"/>
          <a:lstStyle/>
          <a:p>
            <a:pPr marL="0" indent="0">
              <a:lnSpc>
                <a:spcPct val="115000"/>
              </a:lnSpc>
              <a:buNone/>
            </a:pPr>
            <a:r>
              <a:rPr lang="en-US" sz="2000" b="1" dirty="0">
                <a:solidFill>
                  <a:srgbClr val="931A1A"/>
                </a:solidFill>
                <a:latin typeface="Arial" panose="020B0604020202090204" pitchFamily="34" charset="0"/>
                <a:ea typeface="Arial" panose="020B0604020202090204" pitchFamily="34" charset="-122"/>
                <a:cs typeface="Arial" panose="020B0604020202090204" pitchFamily="34" charset="-120"/>
              </a:rPr>
              <a:t>Setting the requirements.  </a:t>
            </a:r>
            <a:r>
              <a:rPr lang="en-US" sz="1800" dirty="0">
                <a:solidFill>
                  <a:srgbClr val="2B2B2B"/>
                </a:solidFill>
                <a:latin typeface="Arial" panose="020B0604020202090204" pitchFamily="34" charset="0"/>
                <a:ea typeface="Arial" panose="020B0604020202090204" pitchFamily="34" charset="-122"/>
                <a:cs typeface="Arial" panose="020B0604020202090204" pitchFamily="34" charset="-120"/>
              </a:rPr>
              <a:t>The audience, tone, language, purpose and level of detail chosen by the user are recorded and used to guide how each format is written.</a:t>
            </a:r>
            <a:endParaRPr lang="en-US" sz="2000" dirty="0"/>
          </a:p>
        </p:txBody>
      </p:sp>
      <p:sp>
        <p:nvSpPr>
          <p:cNvPr id="12" name="Shape 9"/>
          <p:cNvSpPr/>
          <p:nvPr/>
        </p:nvSpPr>
        <p:spPr>
          <a:xfrm>
            <a:off x="777240" y="6455664"/>
            <a:ext cx="594360" cy="594360"/>
          </a:xfrm>
          <a:prstGeom prst="ellipse">
            <a:avLst/>
          </a:prstGeom>
          <a:solidFill>
            <a:srgbClr val="931A1A"/>
          </a:solidFill>
        </p:spPr>
      </p:sp>
      <p:sp>
        <p:nvSpPr>
          <p:cNvPr id="13" name="Text 10"/>
          <p:cNvSpPr/>
          <p:nvPr/>
        </p:nvSpPr>
        <p:spPr>
          <a:xfrm>
            <a:off x="777240" y="6455664"/>
            <a:ext cx="594360" cy="594360"/>
          </a:xfrm>
          <a:prstGeom prst="rect">
            <a:avLst/>
          </a:prstGeom>
          <a:noFill/>
        </p:spPr>
        <p:txBody>
          <a:bodyPr wrap="square" lIns="0" tIns="0" rIns="0" bIns="0" rtlCol="0" anchor="ctr"/>
          <a:lstStyle/>
          <a:p>
            <a:pPr marL="0" indent="0" algn="ctr">
              <a:buNone/>
            </a:pPr>
            <a:r>
              <a:rPr lang="en-US" sz="2200" b="1" dirty="0">
                <a:solidFill>
                  <a:srgbClr val="FFFFFF"/>
                </a:solidFill>
                <a:latin typeface="Arial" panose="020B0604020202090204" pitchFamily="34" charset="0"/>
                <a:ea typeface="Arial" panose="020B0604020202090204" pitchFamily="34" charset="-122"/>
                <a:cs typeface="Arial" panose="020B0604020202090204" pitchFamily="34" charset="-120"/>
              </a:rPr>
              <a:t>4</a:t>
            </a:r>
            <a:endParaRPr lang="en-US" sz="2200" dirty="0"/>
          </a:p>
        </p:txBody>
      </p:sp>
      <p:sp>
        <p:nvSpPr>
          <p:cNvPr id="14" name="Text 11"/>
          <p:cNvSpPr/>
          <p:nvPr/>
        </p:nvSpPr>
        <p:spPr>
          <a:xfrm>
            <a:off x="1737360" y="6409944"/>
            <a:ext cx="15636240" cy="978408"/>
          </a:xfrm>
          <a:prstGeom prst="rect">
            <a:avLst/>
          </a:prstGeom>
          <a:noFill/>
        </p:spPr>
        <p:txBody>
          <a:bodyPr wrap="square" lIns="0" tIns="0" rIns="0" bIns="0" rtlCol="0" anchor="t"/>
          <a:lstStyle/>
          <a:p>
            <a:pPr marL="0" indent="0">
              <a:lnSpc>
                <a:spcPct val="115000"/>
              </a:lnSpc>
              <a:buNone/>
            </a:pPr>
            <a:r>
              <a:rPr lang="en-US" sz="2000" b="1" dirty="0">
                <a:solidFill>
                  <a:srgbClr val="931A1A"/>
                </a:solidFill>
                <a:latin typeface="Arial" panose="020B0604020202090204" pitchFamily="34" charset="0"/>
                <a:ea typeface="Arial" panose="020B0604020202090204" pitchFamily="34" charset="-122"/>
                <a:cs typeface="Arial" panose="020B0604020202090204" pitchFamily="34" charset="-120"/>
              </a:rPr>
              <a:t>Generating each format.  </a:t>
            </a:r>
            <a:r>
              <a:rPr lang="en-US" sz="1800" dirty="0">
                <a:solidFill>
                  <a:srgbClr val="2B2B2B"/>
                </a:solidFill>
                <a:latin typeface="Arial" panose="020B0604020202090204" pitchFamily="34" charset="0"/>
                <a:ea typeface="Arial" panose="020B0604020202090204" pitchFamily="34" charset="-122"/>
                <a:cs typeface="Arial" panose="020B0604020202090204" pitchFamily="34" charset="-120"/>
              </a:rPr>
              <a:t>The presentation, post, advisory, video script and infographic are created separately, based on the same stored information.</a:t>
            </a:r>
            <a:endParaRPr lang="en-US" sz="2000" dirty="0"/>
          </a:p>
        </p:txBody>
      </p:sp>
      <p:sp>
        <p:nvSpPr>
          <p:cNvPr id="15" name="Shape 12"/>
          <p:cNvSpPr/>
          <p:nvPr/>
        </p:nvSpPr>
        <p:spPr>
          <a:xfrm>
            <a:off x="777240" y="7571232"/>
            <a:ext cx="594360" cy="594360"/>
          </a:xfrm>
          <a:prstGeom prst="ellipse">
            <a:avLst/>
          </a:prstGeom>
          <a:solidFill>
            <a:srgbClr val="931A1A"/>
          </a:solidFill>
        </p:spPr>
      </p:sp>
      <p:sp>
        <p:nvSpPr>
          <p:cNvPr id="16" name="Text 13"/>
          <p:cNvSpPr/>
          <p:nvPr/>
        </p:nvSpPr>
        <p:spPr>
          <a:xfrm>
            <a:off x="777240" y="7571232"/>
            <a:ext cx="594360" cy="594360"/>
          </a:xfrm>
          <a:prstGeom prst="rect">
            <a:avLst/>
          </a:prstGeom>
          <a:noFill/>
        </p:spPr>
        <p:txBody>
          <a:bodyPr wrap="square" lIns="0" tIns="0" rIns="0" bIns="0" rtlCol="0" anchor="ctr"/>
          <a:lstStyle/>
          <a:p>
            <a:pPr marL="0" indent="0" algn="ctr">
              <a:buNone/>
            </a:pPr>
            <a:r>
              <a:rPr lang="en-US" sz="2200" b="1" dirty="0">
                <a:solidFill>
                  <a:srgbClr val="FFFFFF"/>
                </a:solidFill>
                <a:latin typeface="Arial" panose="020B0604020202090204" pitchFamily="34" charset="0"/>
                <a:ea typeface="Arial" panose="020B0604020202090204" pitchFamily="34" charset="-122"/>
                <a:cs typeface="Arial" panose="020B0604020202090204" pitchFamily="34" charset="-120"/>
              </a:rPr>
              <a:t>5</a:t>
            </a:r>
            <a:endParaRPr lang="en-US" sz="2200" dirty="0"/>
          </a:p>
        </p:txBody>
      </p:sp>
      <p:sp>
        <p:nvSpPr>
          <p:cNvPr id="17" name="Text 14"/>
          <p:cNvSpPr/>
          <p:nvPr/>
        </p:nvSpPr>
        <p:spPr>
          <a:xfrm>
            <a:off x="1737360" y="7525512"/>
            <a:ext cx="15636240" cy="978408"/>
          </a:xfrm>
          <a:prstGeom prst="rect">
            <a:avLst/>
          </a:prstGeom>
          <a:noFill/>
        </p:spPr>
        <p:txBody>
          <a:bodyPr wrap="square" lIns="0" tIns="0" rIns="0" bIns="0" rtlCol="0" anchor="t"/>
          <a:lstStyle/>
          <a:p>
            <a:pPr marL="0" indent="0">
              <a:lnSpc>
                <a:spcPct val="115000"/>
              </a:lnSpc>
              <a:buNone/>
            </a:pPr>
            <a:r>
              <a:rPr lang="en-US" sz="2000" b="1" dirty="0">
                <a:solidFill>
                  <a:srgbClr val="931A1A"/>
                </a:solidFill>
                <a:latin typeface="Arial" panose="020B0604020202090204" pitchFamily="34" charset="0"/>
                <a:ea typeface="Arial" panose="020B0604020202090204" pitchFamily="34" charset="-122"/>
                <a:cs typeface="Arial" panose="020B0604020202090204" pitchFamily="34" charset="-120"/>
              </a:rPr>
              <a:t>Checking for consistency.  </a:t>
            </a:r>
            <a:r>
              <a:rPr lang="en-US" sz="1800" dirty="0">
                <a:solidFill>
                  <a:srgbClr val="2B2B2B"/>
                </a:solidFill>
                <a:latin typeface="Arial" panose="020B0604020202090204" pitchFamily="34" charset="0"/>
                <a:ea typeface="Arial" panose="020B0604020202090204" pitchFamily="34" charset="-122"/>
                <a:cs typeface="Arial" panose="020B0604020202090204" pitchFamily="34" charset="-120"/>
              </a:rPr>
              <a:t>Each generated format is compared against the stored information to catch any mismatched facts or figures.</a:t>
            </a:r>
            <a:endParaRPr lang="en-US" sz="2000" dirty="0"/>
          </a:p>
        </p:txBody>
      </p:sp>
      <p:sp>
        <p:nvSpPr>
          <p:cNvPr id="18" name="Shape 15"/>
          <p:cNvSpPr/>
          <p:nvPr/>
        </p:nvSpPr>
        <p:spPr>
          <a:xfrm>
            <a:off x="777240" y="8686800"/>
            <a:ext cx="594360" cy="594360"/>
          </a:xfrm>
          <a:prstGeom prst="ellipse">
            <a:avLst/>
          </a:prstGeom>
          <a:solidFill>
            <a:srgbClr val="931A1A"/>
          </a:solidFill>
        </p:spPr>
      </p:sp>
      <p:sp>
        <p:nvSpPr>
          <p:cNvPr id="19" name="Text 16"/>
          <p:cNvSpPr/>
          <p:nvPr/>
        </p:nvSpPr>
        <p:spPr>
          <a:xfrm>
            <a:off x="777240" y="8686800"/>
            <a:ext cx="594360" cy="594360"/>
          </a:xfrm>
          <a:prstGeom prst="rect">
            <a:avLst/>
          </a:prstGeom>
          <a:noFill/>
        </p:spPr>
        <p:txBody>
          <a:bodyPr wrap="square" lIns="0" tIns="0" rIns="0" bIns="0" rtlCol="0" anchor="ctr"/>
          <a:lstStyle/>
          <a:p>
            <a:pPr marL="0" indent="0" algn="ctr">
              <a:buNone/>
            </a:pPr>
            <a:r>
              <a:rPr lang="en-US" sz="2200" b="1" dirty="0">
                <a:solidFill>
                  <a:srgbClr val="FFFFFF"/>
                </a:solidFill>
                <a:latin typeface="Arial" panose="020B0604020202090204" pitchFamily="34" charset="0"/>
                <a:ea typeface="Arial" panose="020B0604020202090204" pitchFamily="34" charset="-122"/>
                <a:cs typeface="Arial" panose="020B0604020202090204" pitchFamily="34" charset="-120"/>
              </a:rPr>
              <a:t>6</a:t>
            </a:r>
            <a:endParaRPr lang="en-US" sz="2200" dirty="0"/>
          </a:p>
        </p:txBody>
      </p:sp>
      <p:sp>
        <p:nvSpPr>
          <p:cNvPr id="20" name="Text 17"/>
          <p:cNvSpPr/>
          <p:nvPr/>
        </p:nvSpPr>
        <p:spPr>
          <a:xfrm>
            <a:off x="1737360" y="8641080"/>
            <a:ext cx="15636240" cy="978408"/>
          </a:xfrm>
          <a:prstGeom prst="rect">
            <a:avLst/>
          </a:prstGeom>
          <a:noFill/>
        </p:spPr>
        <p:txBody>
          <a:bodyPr wrap="square" lIns="0" tIns="0" rIns="0" bIns="0" rtlCol="0" anchor="t"/>
          <a:lstStyle/>
          <a:p>
            <a:pPr marL="0" indent="0">
              <a:lnSpc>
                <a:spcPct val="115000"/>
              </a:lnSpc>
              <a:buNone/>
            </a:pPr>
            <a:r>
              <a:rPr lang="en-US" sz="2000" b="1" dirty="0">
                <a:solidFill>
                  <a:srgbClr val="931A1A"/>
                </a:solidFill>
                <a:latin typeface="Arial" panose="020B0604020202090204" pitchFamily="34" charset="0"/>
                <a:ea typeface="Arial" panose="020B0604020202090204" pitchFamily="34" charset="-122"/>
                <a:cs typeface="Arial" panose="020B0604020202090204" pitchFamily="34" charset="-120"/>
              </a:rPr>
              <a:t>Review and approval.  </a:t>
            </a:r>
            <a:r>
              <a:rPr lang="en-US" sz="1800" dirty="0">
                <a:solidFill>
                  <a:srgbClr val="2B2B2B"/>
                </a:solidFill>
                <a:latin typeface="Arial" panose="020B0604020202090204" pitchFamily="34" charset="0"/>
                <a:ea typeface="Arial" panose="020B0604020202090204" pitchFamily="34" charset="-122"/>
                <a:cs typeface="Arial" panose="020B0604020202090204" pitchFamily="34" charset="-120"/>
              </a:rPr>
              <a:t>The user goes through each format, makes any changes needed, and approves it before it is shared.</a:t>
            </a:r>
            <a:endParaRPr lang="en-US" sz="2000" dirty="0"/>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777240" y="3383280"/>
            <a:ext cx="3566160" cy="1417320"/>
          </a:xfrm>
          <a:prstGeom prst="rect">
            <a:avLst/>
          </a:prstGeom>
          <a:noFill/>
        </p:spPr>
        <p:txBody>
          <a:bodyPr wrap="square" lIns="0" tIns="0" rIns="0" bIns="0" rtlCol="0" anchor="ctr"/>
          <a:lstStyle/>
          <a:p>
            <a:pPr marL="0" indent="0" algn="ctr">
              <a:lnSpc>
                <a:spcPct val="105000"/>
              </a:lnSpc>
              <a:buNone/>
            </a:pPr>
            <a:endParaRPr lang="en-US" sz="1650" dirty="0"/>
          </a:p>
        </p:txBody>
      </p:sp>
      <p:sp>
        <p:nvSpPr>
          <p:cNvPr id="7" name="Text 4"/>
          <p:cNvSpPr/>
          <p:nvPr/>
        </p:nvSpPr>
        <p:spPr>
          <a:xfrm>
            <a:off x="4846320" y="3383280"/>
            <a:ext cx="3566160" cy="1417320"/>
          </a:xfrm>
          <a:prstGeom prst="rect">
            <a:avLst/>
          </a:prstGeom>
          <a:noFill/>
        </p:spPr>
        <p:txBody>
          <a:bodyPr wrap="square" lIns="0" tIns="0" rIns="0" bIns="0" rtlCol="0" anchor="ctr"/>
          <a:lstStyle/>
          <a:p>
            <a:pPr marL="0" indent="0" algn="ctr">
              <a:lnSpc>
                <a:spcPct val="105000"/>
              </a:lnSpc>
              <a:buNone/>
            </a:pPr>
            <a:endParaRPr lang="en-US" sz="1650" dirty="0"/>
          </a:p>
        </p:txBody>
      </p:sp>
      <p:sp>
        <p:nvSpPr>
          <p:cNvPr id="10" name="Text 7"/>
          <p:cNvSpPr/>
          <p:nvPr/>
        </p:nvSpPr>
        <p:spPr>
          <a:xfrm>
            <a:off x="8915400" y="3383280"/>
            <a:ext cx="3566160" cy="1417320"/>
          </a:xfrm>
          <a:prstGeom prst="rect">
            <a:avLst/>
          </a:prstGeom>
          <a:noFill/>
        </p:spPr>
        <p:txBody>
          <a:bodyPr wrap="square" lIns="0" tIns="0" rIns="0" bIns="0" rtlCol="0" anchor="ctr"/>
          <a:lstStyle/>
          <a:p>
            <a:pPr marL="0" indent="0" algn="ctr">
              <a:lnSpc>
                <a:spcPct val="105000"/>
              </a:lnSpc>
              <a:buNone/>
            </a:pPr>
            <a:endParaRPr lang="en-US" sz="1650" dirty="0"/>
          </a:p>
        </p:txBody>
      </p:sp>
      <p:sp>
        <p:nvSpPr>
          <p:cNvPr id="13" name="Text 10"/>
          <p:cNvSpPr/>
          <p:nvPr/>
        </p:nvSpPr>
        <p:spPr>
          <a:xfrm>
            <a:off x="12984480" y="3383280"/>
            <a:ext cx="3566160" cy="1417320"/>
          </a:xfrm>
          <a:prstGeom prst="rect">
            <a:avLst/>
          </a:prstGeom>
          <a:noFill/>
        </p:spPr>
        <p:txBody>
          <a:bodyPr wrap="square" lIns="0" tIns="0" rIns="0" bIns="0" rtlCol="0" anchor="ctr"/>
          <a:lstStyle/>
          <a:p>
            <a:pPr marL="0" indent="0" algn="ctr">
              <a:lnSpc>
                <a:spcPct val="105000"/>
              </a:lnSpc>
              <a:buNone/>
            </a:pPr>
            <a:endParaRPr lang="en-US" sz="1650" dirty="0"/>
          </a:p>
        </p:txBody>
      </p:sp>
      <p:sp>
        <p:nvSpPr>
          <p:cNvPr id="15" name="Text 12"/>
          <p:cNvSpPr/>
          <p:nvPr/>
        </p:nvSpPr>
        <p:spPr>
          <a:xfrm>
            <a:off x="12984480" y="6035040"/>
            <a:ext cx="3566160" cy="1417320"/>
          </a:xfrm>
          <a:prstGeom prst="rect">
            <a:avLst/>
          </a:prstGeom>
          <a:noFill/>
        </p:spPr>
        <p:txBody>
          <a:bodyPr wrap="square" lIns="0" tIns="0" rIns="0" bIns="0" rtlCol="0" anchor="ctr"/>
          <a:lstStyle/>
          <a:p>
            <a:pPr marL="0" indent="0" algn="ctr">
              <a:lnSpc>
                <a:spcPct val="105000"/>
              </a:lnSpc>
              <a:buNone/>
            </a:pPr>
            <a:endParaRPr lang="en-US" sz="1650" dirty="0"/>
          </a:p>
        </p:txBody>
      </p:sp>
      <p:sp>
        <p:nvSpPr>
          <p:cNvPr id="18" name="Text 15"/>
          <p:cNvSpPr/>
          <p:nvPr/>
        </p:nvSpPr>
        <p:spPr>
          <a:xfrm>
            <a:off x="8915400" y="6035040"/>
            <a:ext cx="3566160" cy="1417320"/>
          </a:xfrm>
          <a:prstGeom prst="rect">
            <a:avLst/>
          </a:prstGeom>
          <a:noFill/>
        </p:spPr>
        <p:txBody>
          <a:bodyPr wrap="square" lIns="0" tIns="0" rIns="0" bIns="0" rtlCol="0" anchor="ctr"/>
          <a:lstStyle/>
          <a:p>
            <a:pPr marL="0" indent="0" algn="ctr">
              <a:lnSpc>
                <a:spcPct val="105000"/>
              </a:lnSpc>
              <a:buNone/>
            </a:pPr>
            <a:endParaRPr lang="en-US" sz="1650" dirty="0"/>
          </a:p>
        </p:txBody>
      </p:sp>
      <p:sp>
        <p:nvSpPr>
          <p:cNvPr id="21" name="Text 18"/>
          <p:cNvSpPr/>
          <p:nvPr/>
        </p:nvSpPr>
        <p:spPr>
          <a:xfrm>
            <a:off x="4846320" y="6035040"/>
            <a:ext cx="3566160" cy="1417320"/>
          </a:xfrm>
          <a:prstGeom prst="rect">
            <a:avLst/>
          </a:prstGeom>
          <a:noFill/>
        </p:spPr>
        <p:txBody>
          <a:bodyPr wrap="square" lIns="0" tIns="0" rIns="0" bIns="0" rtlCol="0" anchor="ctr"/>
          <a:lstStyle/>
          <a:p>
            <a:pPr marL="0" indent="0" algn="ctr">
              <a:lnSpc>
                <a:spcPct val="105000"/>
              </a:lnSpc>
              <a:buNone/>
            </a:pPr>
            <a:endParaRPr lang="en-US" sz="1650" dirty="0"/>
          </a:p>
        </p:txBody>
      </p:sp>
      <p:sp>
        <p:nvSpPr>
          <p:cNvPr id="24" name="Text 21"/>
          <p:cNvSpPr/>
          <p:nvPr/>
        </p:nvSpPr>
        <p:spPr>
          <a:xfrm>
            <a:off x="777240" y="6035040"/>
            <a:ext cx="3566160" cy="1417320"/>
          </a:xfrm>
          <a:prstGeom prst="rect">
            <a:avLst/>
          </a:prstGeom>
          <a:noFill/>
        </p:spPr>
        <p:txBody>
          <a:bodyPr wrap="square" lIns="0" tIns="0" rIns="0" bIns="0" rtlCol="0" anchor="ctr"/>
          <a:lstStyle/>
          <a:p>
            <a:pPr marL="0" indent="0" algn="ctr">
              <a:lnSpc>
                <a:spcPct val="105000"/>
              </a:lnSpc>
              <a:buNone/>
            </a:pPr>
            <a:endParaRPr lang="en-US" sz="1650" dirty="0"/>
          </a:p>
        </p:txBody>
      </p:sp>
      <p:pic>
        <p:nvPicPr>
          <p:cNvPr id="26" name="Picture 25" descr="WhatsApp Image 2026-09-10 at 15.39.16"/>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work/bg/07_architecture.png"/>
          <p:cNvPicPr>
            <a:picLocks noChangeAspect="1"/>
          </p:cNvPicPr>
          <p:nvPr/>
        </p:nvPicPr>
        <p:blipFill>
          <a:blip r:embed="rId1"/>
          <a:stretch>
            <a:fillRect/>
          </a:stretch>
        </p:blipFill>
        <p:spPr>
          <a:xfrm>
            <a:off x="0" y="0"/>
            <a:ext cx="18288000" cy="10287000"/>
          </a:xfrm>
          <a:prstGeom prst="rect">
            <a:avLst/>
          </a:prstGeom>
        </p:spPr>
      </p:pic>
      <p:sp>
        <p:nvSpPr>
          <p:cNvPr id="3" name="Shape 0"/>
          <p:cNvSpPr/>
          <p:nvPr/>
        </p:nvSpPr>
        <p:spPr>
          <a:xfrm>
            <a:off x="777240" y="3063240"/>
            <a:ext cx="16733520" cy="777240"/>
          </a:xfrm>
          <a:prstGeom prst="roundRect">
            <a:avLst>
              <a:gd name="adj" fmla="val 11765"/>
            </a:avLst>
          </a:prstGeom>
          <a:solidFill>
            <a:srgbClr val="FBEAEA"/>
          </a:solidFill>
          <a:ln w="19050">
            <a:solidFill>
              <a:srgbClr val="B9161D"/>
            </a:solidFill>
            <a:prstDash val="solid"/>
          </a:ln>
        </p:spPr>
      </p:sp>
      <p:sp>
        <p:nvSpPr>
          <p:cNvPr id="4" name="Text 1"/>
          <p:cNvSpPr/>
          <p:nvPr/>
        </p:nvSpPr>
        <p:spPr>
          <a:xfrm>
            <a:off x="1005840" y="3063240"/>
            <a:ext cx="16276320" cy="777240"/>
          </a:xfrm>
          <a:prstGeom prst="rect">
            <a:avLst/>
          </a:prstGeom>
          <a:noFill/>
        </p:spPr>
        <p:txBody>
          <a:bodyPr wrap="square" lIns="0" tIns="0" rIns="0" bIns="0" rtlCol="0" anchor="ctr"/>
          <a:lstStyle/>
          <a:p>
            <a:pPr marL="0" indent="0">
              <a:buNone/>
            </a:pPr>
            <a:r>
              <a:rPr lang="en-US" sz="1800" b="1" dirty="0">
                <a:solidFill>
                  <a:srgbClr val="931A1A"/>
                </a:solidFill>
                <a:latin typeface="Arial" panose="020B0604020202090204" pitchFamily="34" charset="0"/>
                <a:ea typeface="Arial" panose="020B0604020202090204" pitchFamily="34" charset="-122"/>
                <a:cs typeface="Arial" panose="020B0604020202090204" pitchFamily="34" charset="-120"/>
              </a:rPr>
              <a:t>INPUT LAYER.   Accepts text, documents, images, video and written prompts.</a:t>
            </a:r>
            <a:endParaRPr lang="en-US" sz="1800" dirty="0"/>
          </a:p>
        </p:txBody>
      </p:sp>
      <p:sp>
        <p:nvSpPr>
          <p:cNvPr id="5" name="Shape 2"/>
          <p:cNvSpPr/>
          <p:nvPr/>
        </p:nvSpPr>
        <p:spPr>
          <a:xfrm>
            <a:off x="777240" y="4041648"/>
            <a:ext cx="16733520" cy="777240"/>
          </a:xfrm>
          <a:prstGeom prst="roundRect">
            <a:avLst>
              <a:gd name="adj" fmla="val 11765"/>
            </a:avLst>
          </a:prstGeom>
          <a:solidFill>
            <a:srgbClr val="FBEAEA"/>
          </a:solidFill>
          <a:ln w="19050">
            <a:solidFill>
              <a:srgbClr val="B9161D"/>
            </a:solidFill>
            <a:prstDash val="solid"/>
          </a:ln>
        </p:spPr>
      </p:sp>
      <p:sp>
        <p:nvSpPr>
          <p:cNvPr id="6" name="Text 3"/>
          <p:cNvSpPr/>
          <p:nvPr/>
        </p:nvSpPr>
        <p:spPr>
          <a:xfrm>
            <a:off x="1005840" y="4041648"/>
            <a:ext cx="16276320" cy="777240"/>
          </a:xfrm>
          <a:prstGeom prst="rect">
            <a:avLst/>
          </a:prstGeom>
          <a:noFill/>
        </p:spPr>
        <p:txBody>
          <a:bodyPr wrap="square" lIns="0" tIns="0" rIns="0" bIns="0" rtlCol="0" anchor="ctr"/>
          <a:lstStyle/>
          <a:p>
            <a:pPr marL="0" indent="0">
              <a:buNone/>
            </a:pPr>
            <a:r>
              <a:rPr lang="en-US" sz="1800" b="1" dirty="0">
                <a:solidFill>
                  <a:srgbClr val="931A1A"/>
                </a:solidFill>
                <a:latin typeface="Arial" panose="020B0604020202090204" pitchFamily="34" charset="0"/>
                <a:ea typeface="Arial" panose="020B0604020202090204" pitchFamily="34" charset="-122"/>
                <a:cs typeface="Arial" panose="020B0604020202090204" pitchFamily="34" charset="-120"/>
              </a:rPr>
              <a:t>PROCESSING LAYER.   Reads the input and organizes the facts, people and context into a structured record.</a:t>
            </a:r>
            <a:endParaRPr lang="en-US" sz="1800" dirty="0"/>
          </a:p>
        </p:txBody>
      </p:sp>
      <p:sp>
        <p:nvSpPr>
          <p:cNvPr id="7" name="Shape 4"/>
          <p:cNvSpPr/>
          <p:nvPr/>
        </p:nvSpPr>
        <p:spPr>
          <a:xfrm>
            <a:off x="777240" y="5020056"/>
            <a:ext cx="16733520" cy="777240"/>
          </a:xfrm>
          <a:prstGeom prst="roundRect">
            <a:avLst>
              <a:gd name="adj" fmla="val 11765"/>
            </a:avLst>
          </a:prstGeom>
          <a:solidFill>
            <a:srgbClr val="FBEAEA"/>
          </a:solidFill>
          <a:ln w="19050">
            <a:solidFill>
              <a:srgbClr val="B9161D"/>
            </a:solidFill>
            <a:prstDash val="solid"/>
          </a:ln>
        </p:spPr>
      </p:sp>
      <p:sp>
        <p:nvSpPr>
          <p:cNvPr id="8" name="Text 5"/>
          <p:cNvSpPr/>
          <p:nvPr/>
        </p:nvSpPr>
        <p:spPr>
          <a:xfrm>
            <a:off x="1005840" y="5020056"/>
            <a:ext cx="16276320" cy="777240"/>
          </a:xfrm>
          <a:prstGeom prst="rect">
            <a:avLst/>
          </a:prstGeom>
          <a:noFill/>
        </p:spPr>
        <p:txBody>
          <a:bodyPr wrap="square" lIns="0" tIns="0" rIns="0" bIns="0" rtlCol="0" anchor="ctr"/>
          <a:lstStyle/>
          <a:p>
            <a:pPr marL="0" indent="0">
              <a:buNone/>
            </a:pPr>
            <a:r>
              <a:rPr lang="en-US" sz="1800" b="1" dirty="0">
                <a:solidFill>
                  <a:srgbClr val="931A1A"/>
                </a:solidFill>
                <a:latin typeface="Arial" panose="020B0604020202090204" pitchFamily="34" charset="0"/>
                <a:ea typeface="Arial" panose="020B0604020202090204" pitchFamily="34" charset="-122"/>
                <a:cs typeface="Arial" panose="020B0604020202090204" pitchFamily="34" charset="-120"/>
              </a:rPr>
              <a:t>SETTINGS LAYER.   Stores the audience, tone, language, purpose and detail level chosen by the user.</a:t>
            </a:r>
            <a:endParaRPr lang="en-US" sz="1800" dirty="0"/>
          </a:p>
        </p:txBody>
      </p:sp>
      <p:sp>
        <p:nvSpPr>
          <p:cNvPr id="9" name="Shape 6"/>
          <p:cNvSpPr/>
          <p:nvPr/>
        </p:nvSpPr>
        <p:spPr>
          <a:xfrm>
            <a:off x="777240" y="5998464"/>
            <a:ext cx="16733520" cy="1417320"/>
          </a:xfrm>
          <a:prstGeom prst="roundRect">
            <a:avLst>
              <a:gd name="adj" fmla="val 6452"/>
            </a:avLst>
          </a:prstGeom>
          <a:solidFill>
            <a:srgbClr val="FFFFFF"/>
          </a:solidFill>
          <a:ln w="19050">
            <a:solidFill>
              <a:srgbClr val="B9161D"/>
            </a:solidFill>
            <a:prstDash val="solid"/>
          </a:ln>
        </p:spPr>
      </p:sp>
      <p:sp>
        <p:nvSpPr>
          <p:cNvPr id="10" name="Text 7"/>
          <p:cNvSpPr/>
          <p:nvPr/>
        </p:nvSpPr>
        <p:spPr>
          <a:xfrm>
            <a:off x="1005840" y="6053328"/>
            <a:ext cx="4572000" cy="365760"/>
          </a:xfrm>
          <a:prstGeom prst="rect">
            <a:avLst/>
          </a:prstGeom>
          <a:noFill/>
        </p:spPr>
        <p:txBody>
          <a:bodyPr wrap="square" lIns="0" tIns="0" rIns="0" bIns="0" rtlCol="0" anchor="ctr"/>
          <a:lstStyle/>
          <a:p>
            <a:pPr marL="0" indent="0">
              <a:buNone/>
            </a:pPr>
            <a:r>
              <a:rPr lang="en-US" sz="1500" b="1" dirty="0">
                <a:solidFill>
                  <a:srgbClr val="931A1A"/>
                </a:solidFill>
                <a:latin typeface="Arial" panose="020B0604020202090204" pitchFamily="34" charset="0"/>
                <a:ea typeface="Arial" panose="020B0604020202090204" pitchFamily="34" charset="-122"/>
                <a:cs typeface="Arial" panose="020B0604020202090204" pitchFamily="34" charset="-120"/>
              </a:rPr>
              <a:t>FORMAT GENERATION LAYER</a:t>
            </a:r>
            <a:endParaRPr lang="en-US" sz="1500" dirty="0"/>
          </a:p>
        </p:txBody>
      </p:sp>
      <p:sp>
        <p:nvSpPr>
          <p:cNvPr id="11" name="Shape 8"/>
          <p:cNvSpPr/>
          <p:nvPr/>
        </p:nvSpPr>
        <p:spPr>
          <a:xfrm>
            <a:off x="1316736" y="6473952"/>
            <a:ext cx="2926080" cy="822960"/>
          </a:xfrm>
          <a:prstGeom prst="roundRect">
            <a:avLst>
              <a:gd name="adj" fmla="val 8889"/>
            </a:avLst>
          </a:prstGeom>
          <a:solidFill>
            <a:srgbClr val="FBEAEA"/>
          </a:solidFill>
          <a:ln w="15875">
            <a:solidFill>
              <a:srgbClr val="B9161D"/>
            </a:solidFill>
            <a:prstDash val="solid"/>
          </a:ln>
        </p:spPr>
      </p:sp>
      <p:sp>
        <p:nvSpPr>
          <p:cNvPr id="12" name="Text 9"/>
          <p:cNvSpPr/>
          <p:nvPr/>
        </p:nvSpPr>
        <p:spPr>
          <a:xfrm>
            <a:off x="1316736" y="6473952"/>
            <a:ext cx="2926080" cy="822960"/>
          </a:xfrm>
          <a:prstGeom prst="rect">
            <a:avLst/>
          </a:prstGeom>
          <a:noFill/>
        </p:spPr>
        <p:txBody>
          <a:bodyPr wrap="square" lIns="0" tIns="0" rIns="0" bIns="0" rtlCol="0" anchor="ctr"/>
          <a:lstStyle/>
          <a:p>
            <a:pPr marL="0" indent="0" algn="ctr">
              <a:lnSpc>
                <a:spcPct val="100000"/>
              </a:lnSpc>
              <a:buNone/>
            </a:pPr>
            <a:r>
              <a:rPr lang="en-US" sz="1400" b="1" dirty="0">
                <a:solidFill>
                  <a:srgbClr val="931A1A"/>
                </a:solidFill>
                <a:latin typeface="Arial" panose="020B0604020202090204" pitchFamily="34" charset="0"/>
                <a:ea typeface="Arial" panose="020B0604020202090204" pitchFamily="34" charset="-122"/>
                <a:cs typeface="Arial" panose="020B0604020202090204" pitchFamily="34" charset="-120"/>
              </a:rPr>
              <a:t>Deck</a:t>
            </a:r>
            <a:endParaRPr lang="en-US" sz="1400" dirty="0"/>
          </a:p>
          <a:p>
            <a:pPr marL="0" indent="0" algn="ctr">
              <a:lnSpc>
                <a:spcPct val="100000"/>
              </a:lnSpc>
              <a:buNone/>
            </a:pPr>
            <a:r>
              <a:rPr lang="en-US" sz="1400" b="1" dirty="0">
                <a:solidFill>
                  <a:srgbClr val="931A1A"/>
                </a:solidFill>
                <a:latin typeface="Arial" panose="020B0604020202090204" pitchFamily="34" charset="0"/>
                <a:ea typeface="Arial" panose="020B0604020202090204" pitchFamily="34" charset="-122"/>
                <a:cs typeface="Arial" panose="020B0604020202090204" pitchFamily="34" charset="-120"/>
              </a:rPr>
              <a:t>Module</a:t>
            </a:r>
            <a:endParaRPr lang="en-US" sz="1400" dirty="0"/>
          </a:p>
        </p:txBody>
      </p:sp>
      <p:sp>
        <p:nvSpPr>
          <p:cNvPr id="13" name="Shape 10"/>
          <p:cNvSpPr/>
          <p:nvPr/>
        </p:nvSpPr>
        <p:spPr>
          <a:xfrm>
            <a:off x="4498848" y="6473952"/>
            <a:ext cx="2926080" cy="822960"/>
          </a:xfrm>
          <a:prstGeom prst="roundRect">
            <a:avLst>
              <a:gd name="adj" fmla="val 8889"/>
            </a:avLst>
          </a:prstGeom>
          <a:solidFill>
            <a:srgbClr val="FBEAEA"/>
          </a:solidFill>
          <a:ln w="15875">
            <a:solidFill>
              <a:srgbClr val="B9161D"/>
            </a:solidFill>
            <a:prstDash val="solid"/>
          </a:ln>
        </p:spPr>
      </p:sp>
      <p:sp>
        <p:nvSpPr>
          <p:cNvPr id="14" name="Text 11"/>
          <p:cNvSpPr/>
          <p:nvPr/>
        </p:nvSpPr>
        <p:spPr>
          <a:xfrm>
            <a:off x="4498848" y="6473952"/>
            <a:ext cx="2926080" cy="822960"/>
          </a:xfrm>
          <a:prstGeom prst="rect">
            <a:avLst/>
          </a:prstGeom>
          <a:noFill/>
        </p:spPr>
        <p:txBody>
          <a:bodyPr wrap="square" lIns="0" tIns="0" rIns="0" bIns="0" rtlCol="0" anchor="ctr"/>
          <a:lstStyle/>
          <a:p>
            <a:pPr marL="0" indent="0" algn="ctr">
              <a:lnSpc>
                <a:spcPct val="100000"/>
              </a:lnSpc>
              <a:buNone/>
            </a:pPr>
            <a:r>
              <a:rPr lang="en-US" sz="1400" b="1" dirty="0">
                <a:solidFill>
                  <a:srgbClr val="931A1A"/>
                </a:solidFill>
                <a:latin typeface="Arial" panose="020B0604020202090204" pitchFamily="34" charset="0"/>
                <a:ea typeface="Arial" panose="020B0604020202090204" pitchFamily="34" charset="-122"/>
                <a:cs typeface="Arial" panose="020B0604020202090204" pitchFamily="34" charset="-120"/>
              </a:rPr>
              <a:t>Social Post</a:t>
            </a:r>
            <a:endParaRPr lang="en-US" sz="1400" dirty="0"/>
          </a:p>
          <a:p>
            <a:pPr marL="0" indent="0" algn="ctr">
              <a:lnSpc>
                <a:spcPct val="100000"/>
              </a:lnSpc>
              <a:buNone/>
            </a:pPr>
            <a:r>
              <a:rPr lang="en-US" sz="1400" b="1" dirty="0">
                <a:solidFill>
                  <a:srgbClr val="931A1A"/>
                </a:solidFill>
                <a:latin typeface="Arial" panose="020B0604020202090204" pitchFamily="34" charset="0"/>
                <a:ea typeface="Arial" panose="020B0604020202090204" pitchFamily="34" charset="-122"/>
                <a:cs typeface="Arial" panose="020B0604020202090204" pitchFamily="34" charset="-120"/>
              </a:rPr>
              <a:t>Module</a:t>
            </a:r>
            <a:endParaRPr lang="en-US" sz="1400" dirty="0"/>
          </a:p>
        </p:txBody>
      </p:sp>
      <p:sp>
        <p:nvSpPr>
          <p:cNvPr id="15" name="Shape 12"/>
          <p:cNvSpPr/>
          <p:nvPr/>
        </p:nvSpPr>
        <p:spPr>
          <a:xfrm>
            <a:off x="7680960" y="6473952"/>
            <a:ext cx="2926080" cy="822960"/>
          </a:xfrm>
          <a:prstGeom prst="roundRect">
            <a:avLst>
              <a:gd name="adj" fmla="val 8889"/>
            </a:avLst>
          </a:prstGeom>
          <a:solidFill>
            <a:srgbClr val="FBEAEA"/>
          </a:solidFill>
          <a:ln w="15875">
            <a:solidFill>
              <a:srgbClr val="B9161D"/>
            </a:solidFill>
            <a:prstDash val="solid"/>
          </a:ln>
        </p:spPr>
      </p:sp>
      <p:sp>
        <p:nvSpPr>
          <p:cNvPr id="16" name="Text 13"/>
          <p:cNvSpPr/>
          <p:nvPr/>
        </p:nvSpPr>
        <p:spPr>
          <a:xfrm>
            <a:off x="7680960" y="6473952"/>
            <a:ext cx="2926080" cy="822960"/>
          </a:xfrm>
          <a:prstGeom prst="rect">
            <a:avLst/>
          </a:prstGeom>
          <a:noFill/>
        </p:spPr>
        <p:txBody>
          <a:bodyPr wrap="square" lIns="0" tIns="0" rIns="0" bIns="0" rtlCol="0" anchor="ctr"/>
          <a:lstStyle/>
          <a:p>
            <a:pPr marL="0" indent="0" algn="ctr">
              <a:lnSpc>
                <a:spcPct val="100000"/>
              </a:lnSpc>
              <a:buNone/>
            </a:pPr>
            <a:r>
              <a:rPr lang="en-US" sz="1400" b="1" dirty="0">
                <a:solidFill>
                  <a:srgbClr val="931A1A"/>
                </a:solidFill>
                <a:latin typeface="Arial" panose="020B0604020202090204" pitchFamily="34" charset="0"/>
                <a:ea typeface="Arial" panose="020B0604020202090204" pitchFamily="34" charset="-122"/>
                <a:cs typeface="Arial" panose="020B0604020202090204" pitchFamily="34" charset="-120"/>
              </a:rPr>
              <a:t>Advisory</a:t>
            </a:r>
            <a:endParaRPr lang="en-US" sz="1400" dirty="0"/>
          </a:p>
          <a:p>
            <a:pPr marL="0" indent="0" algn="ctr">
              <a:lnSpc>
                <a:spcPct val="100000"/>
              </a:lnSpc>
              <a:buNone/>
            </a:pPr>
            <a:r>
              <a:rPr lang="en-US" sz="1400" b="1" dirty="0">
                <a:solidFill>
                  <a:srgbClr val="931A1A"/>
                </a:solidFill>
                <a:latin typeface="Arial" panose="020B0604020202090204" pitchFamily="34" charset="0"/>
                <a:ea typeface="Arial" panose="020B0604020202090204" pitchFamily="34" charset="-122"/>
                <a:cs typeface="Arial" panose="020B0604020202090204" pitchFamily="34" charset="-120"/>
              </a:rPr>
              <a:t>Module</a:t>
            </a:r>
            <a:endParaRPr lang="en-US" sz="1400" dirty="0"/>
          </a:p>
        </p:txBody>
      </p:sp>
      <p:sp>
        <p:nvSpPr>
          <p:cNvPr id="17" name="Shape 14"/>
          <p:cNvSpPr/>
          <p:nvPr/>
        </p:nvSpPr>
        <p:spPr>
          <a:xfrm>
            <a:off x="10863072" y="6473952"/>
            <a:ext cx="2926080" cy="822960"/>
          </a:xfrm>
          <a:prstGeom prst="roundRect">
            <a:avLst>
              <a:gd name="adj" fmla="val 8889"/>
            </a:avLst>
          </a:prstGeom>
          <a:solidFill>
            <a:srgbClr val="FBEAEA"/>
          </a:solidFill>
          <a:ln w="15875">
            <a:solidFill>
              <a:srgbClr val="B9161D"/>
            </a:solidFill>
            <a:prstDash val="solid"/>
          </a:ln>
        </p:spPr>
      </p:sp>
      <p:sp>
        <p:nvSpPr>
          <p:cNvPr id="18" name="Text 15"/>
          <p:cNvSpPr/>
          <p:nvPr/>
        </p:nvSpPr>
        <p:spPr>
          <a:xfrm>
            <a:off x="10863072" y="6473952"/>
            <a:ext cx="2926080" cy="822960"/>
          </a:xfrm>
          <a:prstGeom prst="rect">
            <a:avLst/>
          </a:prstGeom>
          <a:noFill/>
        </p:spPr>
        <p:txBody>
          <a:bodyPr wrap="square" lIns="0" tIns="0" rIns="0" bIns="0" rtlCol="0" anchor="ctr"/>
          <a:lstStyle/>
          <a:p>
            <a:pPr marL="0" indent="0" algn="ctr">
              <a:lnSpc>
                <a:spcPct val="100000"/>
              </a:lnSpc>
              <a:buNone/>
            </a:pPr>
            <a:r>
              <a:rPr lang="en-US" sz="1400" b="1" dirty="0">
                <a:solidFill>
                  <a:srgbClr val="931A1A"/>
                </a:solidFill>
                <a:latin typeface="Arial" panose="020B0604020202090204" pitchFamily="34" charset="0"/>
                <a:ea typeface="Arial" panose="020B0604020202090204" pitchFamily="34" charset="-122"/>
                <a:cs typeface="Arial" panose="020B0604020202090204" pitchFamily="34" charset="-120"/>
              </a:rPr>
              <a:t>Video</a:t>
            </a:r>
            <a:endParaRPr lang="en-US" sz="1400" dirty="0"/>
          </a:p>
          <a:p>
            <a:pPr marL="0" indent="0" algn="ctr">
              <a:lnSpc>
                <a:spcPct val="100000"/>
              </a:lnSpc>
              <a:buNone/>
            </a:pPr>
            <a:r>
              <a:rPr lang="en-US" sz="1400" b="1" dirty="0">
                <a:solidFill>
                  <a:srgbClr val="931A1A"/>
                </a:solidFill>
                <a:latin typeface="Arial" panose="020B0604020202090204" pitchFamily="34" charset="0"/>
                <a:ea typeface="Arial" panose="020B0604020202090204" pitchFamily="34" charset="-122"/>
                <a:cs typeface="Arial" panose="020B0604020202090204" pitchFamily="34" charset="-120"/>
              </a:rPr>
              <a:t>Module</a:t>
            </a:r>
            <a:endParaRPr lang="en-US" sz="1400" dirty="0"/>
          </a:p>
        </p:txBody>
      </p:sp>
      <p:sp>
        <p:nvSpPr>
          <p:cNvPr id="19" name="Shape 16"/>
          <p:cNvSpPr/>
          <p:nvPr/>
        </p:nvSpPr>
        <p:spPr>
          <a:xfrm>
            <a:off x="14045184" y="6473952"/>
            <a:ext cx="2926080" cy="822960"/>
          </a:xfrm>
          <a:prstGeom prst="roundRect">
            <a:avLst>
              <a:gd name="adj" fmla="val 8889"/>
            </a:avLst>
          </a:prstGeom>
          <a:solidFill>
            <a:srgbClr val="FBEAEA"/>
          </a:solidFill>
          <a:ln w="15875">
            <a:solidFill>
              <a:srgbClr val="B9161D"/>
            </a:solidFill>
            <a:prstDash val="solid"/>
          </a:ln>
        </p:spPr>
      </p:sp>
      <p:sp>
        <p:nvSpPr>
          <p:cNvPr id="20" name="Text 17"/>
          <p:cNvSpPr/>
          <p:nvPr/>
        </p:nvSpPr>
        <p:spPr>
          <a:xfrm>
            <a:off x="14045184" y="6473952"/>
            <a:ext cx="2926080" cy="822960"/>
          </a:xfrm>
          <a:prstGeom prst="rect">
            <a:avLst/>
          </a:prstGeom>
          <a:noFill/>
        </p:spPr>
        <p:txBody>
          <a:bodyPr wrap="square" lIns="0" tIns="0" rIns="0" bIns="0" rtlCol="0" anchor="ctr"/>
          <a:lstStyle/>
          <a:p>
            <a:pPr marL="0" indent="0" algn="ctr">
              <a:lnSpc>
                <a:spcPct val="100000"/>
              </a:lnSpc>
              <a:buNone/>
            </a:pPr>
            <a:r>
              <a:rPr lang="en-US" sz="1400" b="1" dirty="0">
                <a:solidFill>
                  <a:srgbClr val="931A1A"/>
                </a:solidFill>
                <a:latin typeface="Arial" panose="020B0604020202090204" pitchFamily="34" charset="0"/>
                <a:ea typeface="Arial" panose="020B0604020202090204" pitchFamily="34" charset="-122"/>
                <a:cs typeface="Arial" panose="020B0604020202090204" pitchFamily="34" charset="-120"/>
              </a:rPr>
              <a:t>Infographic</a:t>
            </a:r>
            <a:endParaRPr lang="en-US" sz="1400" dirty="0"/>
          </a:p>
          <a:p>
            <a:pPr marL="0" indent="0" algn="ctr">
              <a:lnSpc>
                <a:spcPct val="100000"/>
              </a:lnSpc>
              <a:buNone/>
            </a:pPr>
            <a:r>
              <a:rPr lang="en-US" sz="1400" b="1" dirty="0">
                <a:solidFill>
                  <a:srgbClr val="931A1A"/>
                </a:solidFill>
                <a:latin typeface="Arial" panose="020B0604020202090204" pitchFamily="34" charset="0"/>
                <a:ea typeface="Arial" panose="020B0604020202090204" pitchFamily="34" charset="-122"/>
                <a:cs typeface="Arial" panose="020B0604020202090204" pitchFamily="34" charset="-120"/>
              </a:rPr>
              <a:t>Module</a:t>
            </a:r>
            <a:endParaRPr lang="en-US" sz="1400" dirty="0"/>
          </a:p>
        </p:txBody>
      </p:sp>
      <p:sp>
        <p:nvSpPr>
          <p:cNvPr id="21" name="Shape 18"/>
          <p:cNvSpPr/>
          <p:nvPr/>
        </p:nvSpPr>
        <p:spPr>
          <a:xfrm>
            <a:off x="777240" y="7616952"/>
            <a:ext cx="16733520" cy="777240"/>
          </a:xfrm>
          <a:prstGeom prst="roundRect">
            <a:avLst>
              <a:gd name="adj" fmla="val 11765"/>
            </a:avLst>
          </a:prstGeom>
          <a:solidFill>
            <a:srgbClr val="FBEAEA"/>
          </a:solidFill>
          <a:ln w="19050">
            <a:solidFill>
              <a:srgbClr val="B9161D"/>
            </a:solidFill>
            <a:prstDash val="solid"/>
          </a:ln>
        </p:spPr>
      </p:sp>
      <p:sp>
        <p:nvSpPr>
          <p:cNvPr id="23" name="Shape 20"/>
          <p:cNvSpPr/>
          <p:nvPr/>
        </p:nvSpPr>
        <p:spPr>
          <a:xfrm>
            <a:off x="777240" y="8595360"/>
            <a:ext cx="16733520" cy="777240"/>
          </a:xfrm>
          <a:prstGeom prst="roundRect">
            <a:avLst>
              <a:gd name="adj" fmla="val 11765"/>
            </a:avLst>
          </a:prstGeom>
          <a:solidFill>
            <a:srgbClr val="931A1A"/>
          </a:solidFill>
          <a:ln w="19050">
            <a:solidFill>
              <a:srgbClr val="B9161D"/>
            </a:solidFill>
            <a:prstDash val="solid"/>
          </a:ln>
        </p:spPr>
      </p:sp>
      <p:sp>
        <p:nvSpPr>
          <p:cNvPr id="24" name="Text 21"/>
          <p:cNvSpPr/>
          <p:nvPr/>
        </p:nvSpPr>
        <p:spPr>
          <a:xfrm>
            <a:off x="1005840" y="8595360"/>
            <a:ext cx="16276320" cy="777240"/>
          </a:xfrm>
          <a:prstGeom prst="rect">
            <a:avLst/>
          </a:prstGeom>
          <a:noFill/>
        </p:spPr>
        <p:txBody>
          <a:bodyPr wrap="square" lIns="0" tIns="0" rIns="0" bIns="0" rtlCol="0" anchor="ctr"/>
          <a:lstStyle/>
          <a:p>
            <a:pPr marL="0" indent="0">
              <a:buNone/>
            </a:pPr>
            <a:r>
              <a:rPr lang="en-US" sz="1800" b="1" dirty="0">
                <a:solidFill>
                  <a:srgbClr val="FFFFFF"/>
                </a:solidFill>
                <a:latin typeface="Arial" panose="020B0604020202090204" pitchFamily="34" charset="0"/>
                <a:ea typeface="Arial" panose="020B0604020202090204" pitchFamily="34" charset="-122"/>
                <a:cs typeface="Arial" panose="020B0604020202090204" pitchFamily="34" charset="-120"/>
              </a:rPr>
              <a:t>OUTPUT LAYER.   Preview, edit, download and keep track of earlier versions.</a:t>
            </a:r>
            <a:endParaRPr lang="en-US" sz="1800" dirty="0"/>
          </a:p>
        </p:txBody>
      </p:sp>
      <p:pic>
        <p:nvPicPr>
          <p:cNvPr id="25" name="Picture 24" descr="WhatsApp Image 2026-09-10 at 15.50.13 (1)"/>
          <p:cNvPicPr>
            <a:picLocks noChangeAspect="1"/>
          </p:cNvPicPr>
          <p:nvPr/>
        </p:nvPicPr>
        <p:blipFill>
          <a:blip r:embed="rId2"/>
          <a:stretch>
            <a:fillRect/>
          </a:stretch>
        </p:blipFill>
        <p:spPr>
          <a:xfrm>
            <a:off x="-58420" y="0"/>
            <a:ext cx="18346420" cy="103886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work/bg/08_implementation1.png"/>
          <p:cNvPicPr>
            <a:picLocks noChangeAspect="1"/>
          </p:cNvPicPr>
          <p:nvPr/>
        </p:nvPicPr>
        <p:blipFill>
          <a:blip r:embed="rId1"/>
          <a:stretch>
            <a:fillRect/>
          </a:stretch>
        </p:blipFill>
        <p:spPr>
          <a:xfrm>
            <a:off x="0" y="0"/>
            <a:ext cx="18288000" cy="10287000"/>
          </a:xfrm>
          <a:prstGeom prst="rect">
            <a:avLst/>
          </a:prstGeom>
        </p:spPr>
      </p:pic>
      <p:sp>
        <p:nvSpPr>
          <p:cNvPr id="3" name="Shape 0"/>
          <p:cNvSpPr/>
          <p:nvPr/>
        </p:nvSpPr>
        <p:spPr>
          <a:xfrm>
            <a:off x="777240" y="3063240"/>
            <a:ext cx="4937760" cy="1005840"/>
          </a:xfrm>
          <a:prstGeom prst="roundRect">
            <a:avLst>
              <a:gd name="adj" fmla="val 9091"/>
            </a:avLst>
          </a:prstGeom>
          <a:solidFill>
            <a:srgbClr val="931A1A"/>
          </a:solidFill>
        </p:spPr>
      </p:sp>
      <p:sp>
        <p:nvSpPr>
          <p:cNvPr id="4" name="Text 1"/>
          <p:cNvSpPr/>
          <p:nvPr/>
        </p:nvSpPr>
        <p:spPr>
          <a:xfrm>
            <a:off x="960120" y="3063240"/>
            <a:ext cx="4572000" cy="1005840"/>
          </a:xfrm>
          <a:prstGeom prst="rect">
            <a:avLst/>
          </a:prstGeom>
          <a:noFill/>
        </p:spPr>
        <p:txBody>
          <a:bodyPr wrap="square" lIns="0" tIns="0" rIns="0" bIns="0" rtlCol="0" anchor="ctr"/>
          <a:lstStyle/>
          <a:p>
            <a:pPr marL="0" indent="0">
              <a:lnSpc>
                <a:spcPct val="105000"/>
              </a:lnSpc>
              <a:buNone/>
            </a:pPr>
            <a:r>
              <a:rPr lang="en-US" sz="1700" b="1" dirty="0">
                <a:solidFill>
                  <a:srgbClr val="FFFFFF"/>
                </a:solidFill>
                <a:latin typeface="Arial" panose="020B0604020202090204" pitchFamily="34" charset="0"/>
                <a:ea typeface="Arial" panose="020B0604020202090204" pitchFamily="34" charset="-122"/>
                <a:cs typeface="Arial" panose="020B0604020202090204" pitchFamily="34" charset="-120"/>
              </a:rPr>
              <a:t>Reading Input Files</a:t>
            </a:r>
            <a:endParaRPr lang="en-US" sz="1700" dirty="0"/>
          </a:p>
        </p:txBody>
      </p:sp>
      <p:sp>
        <p:nvSpPr>
          <p:cNvPr id="5" name="Text 2"/>
          <p:cNvSpPr/>
          <p:nvPr/>
        </p:nvSpPr>
        <p:spPr>
          <a:xfrm>
            <a:off x="5943600" y="3063240"/>
            <a:ext cx="11109960" cy="1005840"/>
          </a:xfrm>
          <a:prstGeom prst="rect">
            <a:avLst/>
          </a:prstGeom>
          <a:noFill/>
        </p:spPr>
        <p:txBody>
          <a:bodyPr wrap="square" lIns="0" tIns="0" rIns="0" bIns="0" rtlCol="0" anchor="ctr"/>
          <a:lstStyle/>
          <a:p>
            <a:pPr marL="0" indent="0">
              <a:lnSpc>
                <a:spcPct val="110000"/>
              </a:lnSpc>
              <a:buNone/>
            </a:pPr>
            <a:r>
              <a:rPr lang="en-US" sz="1650" dirty="0">
                <a:solidFill>
                  <a:srgbClr val="2B2B2B"/>
                </a:solidFill>
                <a:latin typeface="Arial" panose="020B0604020202090204" pitchFamily="34" charset="0"/>
                <a:ea typeface="Arial" panose="020B0604020202090204" pitchFamily="34" charset="-122"/>
                <a:cs typeface="Arial" panose="020B0604020202090204" pitchFamily="34" charset="-120"/>
              </a:rPr>
              <a:t>Apache Tika, Tesseract OCR, OpenAI Whisper</a:t>
            </a:r>
            <a:endParaRPr lang="en-US" sz="1650" dirty="0"/>
          </a:p>
        </p:txBody>
      </p:sp>
      <p:sp>
        <p:nvSpPr>
          <p:cNvPr id="6" name="Shape 3"/>
          <p:cNvSpPr/>
          <p:nvPr/>
        </p:nvSpPr>
        <p:spPr>
          <a:xfrm>
            <a:off x="777240" y="4297680"/>
            <a:ext cx="4937760" cy="1005840"/>
          </a:xfrm>
          <a:prstGeom prst="roundRect">
            <a:avLst>
              <a:gd name="adj" fmla="val 9091"/>
            </a:avLst>
          </a:prstGeom>
          <a:solidFill>
            <a:srgbClr val="931A1A"/>
          </a:solidFill>
        </p:spPr>
      </p:sp>
      <p:sp>
        <p:nvSpPr>
          <p:cNvPr id="7" name="Text 4"/>
          <p:cNvSpPr/>
          <p:nvPr/>
        </p:nvSpPr>
        <p:spPr>
          <a:xfrm>
            <a:off x="960120" y="4297680"/>
            <a:ext cx="4572000" cy="1005840"/>
          </a:xfrm>
          <a:prstGeom prst="rect">
            <a:avLst/>
          </a:prstGeom>
          <a:noFill/>
        </p:spPr>
        <p:txBody>
          <a:bodyPr wrap="square" lIns="0" tIns="0" rIns="0" bIns="0" rtlCol="0" anchor="ctr"/>
          <a:lstStyle/>
          <a:p>
            <a:pPr marL="0" indent="0">
              <a:lnSpc>
                <a:spcPct val="105000"/>
              </a:lnSpc>
              <a:buNone/>
            </a:pPr>
            <a:r>
              <a:rPr lang="en-US" sz="1700" b="1" dirty="0">
                <a:solidFill>
                  <a:srgbClr val="FFFFFF"/>
                </a:solidFill>
                <a:latin typeface="Arial" panose="020B0604020202090204" pitchFamily="34" charset="0"/>
                <a:ea typeface="Arial" panose="020B0604020202090204" pitchFamily="34" charset="-122"/>
                <a:cs typeface="Arial" panose="020B0604020202090204" pitchFamily="34" charset="-120"/>
              </a:rPr>
              <a:t>Understanding Content</a:t>
            </a:r>
            <a:endParaRPr lang="en-US" sz="1700" dirty="0"/>
          </a:p>
        </p:txBody>
      </p:sp>
      <p:sp>
        <p:nvSpPr>
          <p:cNvPr id="8" name="Text 5"/>
          <p:cNvSpPr/>
          <p:nvPr/>
        </p:nvSpPr>
        <p:spPr>
          <a:xfrm>
            <a:off x="5943600" y="4297680"/>
            <a:ext cx="11109960" cy="1005840"/>
          </a:xfrm>
          <a:prstGeom prst="rect">
            <a:avLst/>
          </a:prstGeom>
          <a:noFill/>
        </p:spPr>
        <p:txBody>
          <a:bodyPr wrap="square" lIns="0" tIns="0" rIns="0" bIns="0" rtlCol="0" anchor="ctr"/>
          <a:lstStyle/>
          <a:p>
            <a:pPr marL="0" indent="0">
              <a:lnSpc>
                <a:spcPct val="110000"/>
              </a:lnSpc>
              <a:buNone/>
            </a:pPr>
            <a:r>
              <a:rPr lang="en-US" sz="1650" dirty="0">
                <a:solidFill>
                  <a:srgbClr val="2B2B2B"/>
                </a:solidFill>
                <a:latin typeface="Arial" panose="020B0604020202090204" pitchFamily="34" charset="0"/>
                <a:ea typeface="Arial" panose="020B0604020202090204" pitchFamily="34" charset="-122"/>
                <a:cs typeface="Arial" panose="020B0604020202090204" pitchFamily="34" charset="-120"/>
              </a:rPr>
              <a:t>GPT-4 / Claude, spaCy for entity recognition, Pinecone or Weaviate, Neo4j for storing relationships</a:t>
            </a:r>
            <a:endParaRPr lang="en-US" sz="1650" dirty="0"/>
          </a:p>
        </p:txBody>
      </p:sp>
      <p:sp>
        <p:nvSpPr>
          <p:cNvPr id="9" name="Shape 6"/>
          <p:cNvSpPr/>
          <p:nvPr/>
        </p:nvSpPr>
        <p:spPr>
          <a:xfrm>
            <a:off x="777240" y="5532120"/>
            <a:ext cx="4937760" cy="1005840"/>
          </a:xfrm>
          <a:prstGeom prst="roundRect">
            <a:avLst>
              <a:gd name="adj" fmla="val 9091"/>
            </a:avLst>
          </a:prstGeom>
          <a:solidFill>
            <a:srgbClr val="931A1A"/>
          </a:solidFill>
        </p:spPr>
      </p:sp>
      <p:sp>
        <p:nvSpPr>
          <p:cNvPr id="10" name="Text 7"/>
          <p:cNvSpPr/>
          <p:nvPr/>
        </p:nvSpPr>
        <p:spPr>
          <a:xfrm>
            <a:off x="960120" y="5532120"/>
            <a:ext cx="4572000" cy="1005840"/>
          </a:xfrm>
          <a:prstGeom prst="rect">
            <a:avLst/>
          </a:prstGeom>
          <a:noFill/>
        </p:spPr>
        <p:txBody>
          <a:bodyPr wrap="square" lIns="0" tIns="0" rIns="0" bIns="0" rtlCol="0" anchor="ctr"/>
          <a:lstStyle/>
          <a:p>
            <a:pPr marL="0" indent="0">
              <a:lnSpc>
                <a:spcPct val="105000"/>
              </a:lnSpc>
              <a:buNone/>
            </a:pPr>
            <a:r>
              <a:rPr lang="en-US" sz="1700" b="1" dirty="0">
                <a:solidFill>
                  <a:srgbClr val="FFFFFF"/>
                </a:solidFill>
                <a:latin typeface="Arial" panose="020B0604020202090204" pitchFamily="34" charset="0"/>
                <a:ea typeface="Arial" panose="020B0604020202090204" pitchFamily="34" charset="-122"/>
                <a:cs typeface="Arial" panose="020B0604020202090204" pitchFamily="34" charset="-120"/>
              </a:rPr>
              <a:t>Managing Requirements</a:t>
            </a:r>
            <a:endParaRPr lang="en-US" sz="1700" dirty="0"/>
          </a:p>
        </p:txBody>
      </p:sp>
      <p:sp>
        <p:nvSpPr>
          <p:cNvPr id="11" name="Text 8"/>
          <p:cNvSpPr/>
          <p:nvPr/>
        </p:nvSpPr>
        <p:spPr>
          <a:xfrm>
            <a:off x="5943600" y="5532120"/>
            <a:ext cx="11109960" cy="1005840"/>
          </a:xfrm>
          <a:prstGeom prst="rect">
            <a:avLst/>
          </a:prstGeom>
          <a:noFill/>
        </p:spPr>
        <p:txBody>
          <a:bodyPr wrap="square" lIns="0" tIns="0" rIns="0" bIns="0" rtlCol="0" anchor="ctr"/>
          <a:lstStyle/>
          <a:p>
            <a:pPr marL="0" indent="0">
              <a:lnSpc>
                <a:spcPct val="110000"/>
              </a:lnSpc>
              <a:buNone/>
            </a:pPr>
            <a:r>
              <a:rPr lang="en-US" sz="1650" dirty="0">
                <a:solidFill>
                  <a:srgbClr val="2B2B2B"/>
                </a:solidFill>
                <a:latin typeface="Arial" panose="020B0604020202090204" pitchFamily="34" charset="0"/>
                <a:ea typeface="Arial" panose="020B0604020202090204" pitchFamily="34" charset="-122"/>
                <a:cs typeface="Arial" panose="020B0604020202090204" pitchFamily="34" charset="-120"/>
              </a:rPr>
              <a:t>LangChain / LlamaIndex, prompt templates, FastAPI backend</a:t>
            </a:r>
            <a:endParaRPr lang="en-US" sz="1650" dirty="0"/>
          </a:p>
        </p:txBody>
      </p:sp>
      <p:sp>
        <p:nvSpPr>
          <p:cNvPr id="12" name="Shape 9"/>
          <p:cNvSpPr/>
          <p:nvPr/>
        </p:nvSpPr>
        <p:spPr>
          <a:xfrm>
            <a:off x="777240" y="6766560"/>
            <a:ext cx="4937760" cy="1005840"/>
          </a:xfrm>
          <a:prstGeom prst="roundRect">
            <a:avLst>
              <a:gd name="adj" fmla="val 9091"/>
            </a:avLst>
          </a:prstGeom>
          <a:solidFill>
            <a:srgbClr val="931A1A"/>
          </a:solidFill>
        </p:spPr>
      </p:sp>
      <p:sp>
        <p:nvSpPr>
          <p:cNvPr id="13" name="Text 10"/>
          <p:cNvSpPr/>
          <p:nvPr/>
        </p:nvSpPr>
        <p:spPr>
          <a:xfrm>
            <a:off x="960120" y="6766560"/>
            <a:ext cx="4572000" cy="1005840"/>
          </a:xfrm>
          <a:prstGeom prst="rect">
            <a:avLst/>
          </a:prstGeom>
          <a:noFill/>
        </p:spPr>
        <p:txBody>
          <a:bodyPr wrap="square" lIns="0" tIns="0" rIns="0" bIns="0" rtlCol="0" anchor="ctr"/>
          <a:lstStyle/>
          <a:p>
            <a:pPr marL="0" indent="0">
              <a:lnSpc>
                <a:spcPct val="105000"/>
              </a:lnSpc>
              <a:buNone/>
            </a:pPr>
            <a:r>
              <a:rPr lang="en-US" sz="1700" b="1" dirty="0">
                <a:solidFill>
                  <a:srgbClr val="FFFFFF"/>
                </a:solidFill>
                <a:latin typeface="Arial" panose="020B0604020202090204" pitchFamily="34" charset="0"/>
                <a:ea typeface="Arial" panose="020B0604020202090204" pitchFamily="34" charset="-122"/>
                <a:cs typeface="Arial" panose="020B0604020202090204" pitchFamily="34" charset="-120"/>
              </a:rPr>
              <a:t>Generating Formats</a:t>
            </a:r>
            <a:endParaRPr lang="en-US" sz="1700" dirty="0"/>
          </a:p>
        </p:txBody>
      </p:sp>
      <p:sp>
        <p:nvSpPr>
          <p:cNvPr id="14" name="Text 11"/>
          <p:cNvSpPr/>
          <p:nvPr/>
        </p:nvSpPr>
        <p:spPr>
          <a:xfrm>
            <a:off x="5943600" y="6766560"/>
            <a:ext cx="11109960" cy="1005840"/>
          </a:xfrm>
          <a:prstGeom prst="rect">
            <a:avLst/>
          </a:prstGeom>
          <a:noFill/>
        </p:spPr>
        <p:txBody>
          <a:bodyPr wrap="square" lIns="0" tIns="0" rIns="0" bIns="0" rtlCol="0" anchor="ctr"/>
          <a:lstStyle/>
          <a:p>
            <a:pPr marL="0" indent="0">
              <a:lnSpc>
                <a:spcPct val="110000"/>
              </a:lnSpc>
              <a:buNone/>
            </a:pPr>
            <a:r>
              <a:rPr lang="en-US" sz="1650" dirty="0">
                <a:solidFill>
                  <a:srgbClr val="2B2B2B"/>
                </a:solidFill>
                <a:latin typeface="Arial" panose="020B0604020202090204" pitchFamily="34" charset="0"/>
                <a:ea typeface="Arial" panose="020B0604020202090204" pitchFamily="34" charset="-122"/>
                <a:cs typeface="Arial" panose="020B0604020202090204" pitchFamily="34" charset="-120"/>
              </a:rPr>
              <a:t>pptxgenjs / python-pptx for slides, Jinja2 templates for posts and advisories, Remotion with ElevenLabs for video, SVG / Canva API for infographics</a:t>
            </a:r>
            <a:endParaRPr lang="en-US" sz="1650" dirty="0"/>
          </a:p>
        </p:txBody>
      </p:sp>
      <p:sp>
        <p:nvSpPr>
          <p:cNvPr id="15" name="Shape 12"/>
          <p:cNvSpPr/>
          <p:nvPr/>
        </p:nvSpPr>
        <p:spPr>
          <a:xfrm>
            <a:off x="777240" y="8001000"/>
            <a:ext cx="4937760" cy="1005840"/>
          </a:xfrm>
          <a:prstGeom prst="roundRect">
            <a:avLst>
              <a:gd name="adj" fmla="val 9091"/>
            </a:avLst>
          </a:prstGeom>
          <a:solidFill>
            <a:srgbClr val="931A1A"/>
          </a:solidFill>
        </p:spPr>
      </p:sp>
      <p:sp>
        <p:nvSpPr>
          <p:cNvPr id="16" name="Text 13"/>
          <p:cNvSpPr/>
          <p:nvPr/>
        </p:nvSpPr>
        <p:spPr>
          <a:xfrm>
            <a:off x="960120" y="8001000"/>
            <a:ext cx="4572000" cy="1005840"/>
          </a:xfrm>
          <a:prstGeom prst="rect">
            <a:avLst/>
          </a:prstGeom>
          <a:noFill/>
        </p:spPr>
        <p:txBody>
          <a:bodyPr wrap="square" lIns="0" tIns="0" rIns="0" bIns="0" rtlCol="0" anchor="ctr"/>
          <a:lstStyle/>
          <a:p>
            <a:pPr marL="0" indent="0">
              <a:lnSpc>
                <a:spcPct val="105000"/>
              </a:lnSpc>
              <a:buNone/>
            </a:pPr>
            <a:r>
              <a:rPr lang="en-US" sz="1700" b="1" dirty="0">
                <a:solidFill>
                  <a:srgbClr val="FFFFFF"/>
                </a:solidFill>
                <a:latin typeface="Arial" panose="020B0604020202090204" pitchFamily="34" charset="0"/>
                <a:ea typeface="Arial" panose="020B0604020202090204" pitchFamily="34" charset="-122"/>
                <a:cs typeface="Arial" panose="020B0604020202090204" pitchFamily="34" charset="-120"/>
              </a:rPr>
              <a:t>Interface &amp; Deployment</a:t>
            </a:r>
            <a:endParaRPr lang="en-US" sz="1700" dirty="0"/>
          </a:p>
        </p:txBody>
      </p:sp>
      <p:sp>
        <p:nvSpPr>
          <p:cNvPr id="17" name="Text 14"/>
          <p:cNvSpPr/>
          <p:nvPr/>
        </p:nvSpPr>
        <p:spPr>
          <a:xfrm>
            <a:off x="5943600" y="8001000"/>
            <a:ext cx="11109960" cy="1005840"/>
          </a:xfrm>
          <a:prstGeom prst="rect">
            <a:avLst/>
          </a:prstGeom>
          <a:noFill/>
        </p:spPr>
        <p:txBody>
          <a:bodyPr wrap="square" lIns="0" tIns="0" rIns="0" bIns="0" rtlCol="0" anchor="ctr"/>
          <a:lstStyle/>
          <a:p>
            <a:pPr marL="0" indent="0">
              <a:lnSpc>
                <a:spcPct val="110000"/>
              </a:lnSpc>
              <a:buNone/>
            </a:pPr>
            <a:r>
              <a:rPr lang="en-US" sz="1650" dirty="0">
                <a:solidFill>
                  <a:srgbClr val="2B2B2B"/>
                </a:solidFill>
                <a:latin typeface="Arial" panose="020B0604020202090204" pitchFamily="34" charset="0"/>
                <a:ea typeface="Arial" panose="020B0604020202090204" pitchFamily="34" charset="-122"/>
                <a:cs typeface="Arial" panose="020B0604020202090204" pitchFamily="34" charset="-120"/>
              </a:rPr>
              <a:t>React with Tailwind CSS, Docker and Kubernetes, AWS S3 and CloudFront</a:t>
            </a:r>
            <a:endParaRPr lang="en-US" sz="1650" dirty="0"/>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work/bg/09_implementation2.png"/>
          <p:cNvPicPr>
            <a:picLocks noChangeAspect="1"/>
          </p:cNvPicPr>
          <p:nvPr/>
        </p:nvPicPr>
        <p:blipFill>
          <a:blip r:embed="rId1"/>
          <a:stretch>
            <a:fillRect/>
          </a:stretch>
        </p:blipFill>
        <p:spPr>
          <a:xfrm>
            <a:off x="0" y="0"/>
            <a:ext cx="18288000" cy="10287000"/>
          </a:xfrm>
          <a:prstGeom prst="rect">
            <a:avLst/>
          </a:prstGeom>
        </p:spPr>
      </p:pic>
      <p:sp>
        <p:nvSpPr>
          <p:cNvPr id="3" name="Text 0"/>
          <p:cNvSpPr/>
          <p:nvPr/>
        </p:nvSpPr>
        <p:spPr>
          <a:xfrm>
            <a:off x="685800" y="3063240"/>
            <a:ext cx="16733520" cy="6949440"/>
          </a:xfrm>
          <a:prstGeom prst="rect">
            <a:avLst/>
          </a:prstGeom>
          <a:noFill/>
        </p:spPr>
        <p:txBody>
          <a:bodyPr wrap="square" lIns="0" tIns="0" rIns="0" bIns="0" rtlCol="0" anchor="t"/>
          <a:lstStyle/>
          <a:p>
            <a:pPr marL="355600" indent="-355600">
              <a:lnSpc>
                <a:spcPct val="130000"/>
              </a:lnSpc>
              <a:spcAft>
                <a:spcPts val="1600"/>
              </a:spcAft>
              <a:buSzPct val="100000"/>
              <a:buChar char="▪"/>
            </a:pPr>
            <a:r>
              <a:rPr lang="en-US" sz="2100" dirty="0">
                <a:solidFill>
                  <a:srgbClr val="2B2B2B"/>
                </a:solidFill>
                <a:latin typeface="Arial" panose="020B0604020202090204" pitchFamily="34" charset="0"/>
                <a:ea typeface="Arial" panose="020B0604020202090204" pitchFamily="34" charset="-122"/>
                <a:cs typeface="Arial" panose="020B0604020202090204" pitchFamily="34" charset="-120"/>
              </a:rPr>
              <a:t>New output formats can be added later without changing the rest of the system, since each format is handled by its own separate module.</a:t>
            </a:r>
            <a:endParaRPr lang="en-US" sz="2100" dirty="0"/>
          </a:p>
          <a:p>
            <a:pPr marL="355600" indent="-355600">
              <a:lnSpc>
                <a:spcPct val="130000"/>
              </a:lnSpc>
              <a:spcAft>
                <a:spcPts val="1600"/>
              </a:spcAft>
              <a:buSzPct val="100000"/>
              <a:buChar char="▪"/>
            </a:pPr>
            <a:r>
              <a:rPr lang="en-US" sz="2100" dirty="0">
                <a:solidFill>
                  <a:srgbClr val="2B2B2B"/>
                </a:solidFill>
                <a:latin typeface="Arial" panose="020B0604020202090204" pitchFamily="34" charset="0"/>
                <a:ea typeface="Arial" panose="020B0604020202090204" pitchFamily="34" charset="-122"/>
                <a:cs typeface="Arial" panose="020B0604020202090204" pitchFamily="34" charset="-120"/>
              </a:rPr>
              <a:t>The consistency check looks at the meaning of the generated text, not just the words used, so it can catch cases where the wording has changed but a fact or figure no longer matches.</a:t>
            </a:r>
            <a:endParaRPr lang="en-US" sz="2100" dirty="0"/>
          </a:p>
          <a:p>
            <a:pPr marL="355600" indent="-355600">
              <a:lnSpc>
                <a:spcPct val="130000"/>
              </a:lnSpc>
              <a:spcAft>
                <a:spcPts val="1600"/>
              </a:spcAft>
              <a:buSzPct val="100000"/>
              <a:buChar char="▪"/>
            </a:pPr>
            <a:r>
              <a:rPr lang="en-US" sz="2100" dirty="0">
                <a:solidFill>
                  <a:srgbClr val="2B2B2B"/>
                </a:solidFill>
                <a:latin typeface="Arial" panose="020B0604020202090204" pitchFamily="34" charset="0"/>
                <a:ea typeface="Arial" panose="020B0604020202090204" pitchFamily="34" charset="-122"/>
                <a:cs typeface="Arial" panose="020B0604020202090204" pitchFamily="34" charset="-120"/>
              </a:rPr>
              <a:t>Generated content can be translated into other languages while keeping the same structure and tone.</a:t>
            </a:r>
            <a:endParaRPr lang="en-US" sz="2100" dirty="0"/>
          </a:p>
          <a:p>
            <a:pPr marL="355600" indent="-355600">
              <a:lnSpc>
                <a:spcPct val="130000"/>
              </a:lnSpc>
              <a:spcAft>
                <a:spcPts val="1600"/>
              </a:spcAft>
              <a:buSzPct val="100000"/>
              <a:buChar char="▪"/>
            </a:pPr>
            <a:r>
              <a:rPr lang="en-US" sz="2100" dirty="0">
                <a:solidFill>
                  <a:srgbClr val="2B2B2B"/>
                </a:solidFill>
                <a:latin typeface="Arial" panose="020B0604020202090204" pitchFamily="34" charset="0"/>
                <a:ea typeface="Arial" panose="020B0604020202090204" pitchFamily="34" charset="-122"/>
                <a:cs typeface="Arial" panose="020B0604020202090204" pitchFamily="34" charset="-120"/>
              </a:rPr>
              <a:t>The user can edit any generated format directly, preview it, and export it as a document, image, video or plain text file.</a:t>
            </a:r>
            <a:endParaRPr lang="en-US" sz="2100" dirty="0"/>
          </a:p>
          <a:p>
            <a:pPr marL="355600" indent="-355600">
              <a:lnSpc>
                <a:spcPct val="130000"/>
              </a:lnSpc>
              <a:spcAft>
                <a:spcPts val="1600"/>
              </a:spcAft>
              <a:buSzPct val="100000"/>
              <a:buChar char="▪"/>
            </a:pPr>
            <a:r>
              <a:rPr lang="en-US" sz="2100" dirty="0">
                <a:solidFill>
                  <a:srgbClr val="2B2B2B"/>
                </a:solidFill>
                <a:latin typeface="Arial" panose="020B0604020202090204" pitchFamily="34" charset="0"/>
                <a:ea typeface="Arial" panose="020B0604020202090204" pitchFamily="34" charset="-122"/>
                <a:cs typeface="Arial" panose="020B0604020202090204" pitchFamily="34" charset="-120"/>
              </a:rPr>
              <a:t>Every version of every generated file is saved, which can be useful for advisories or incident reports where a record of changes may be required.</a:t>
            </a:r>
            <a:endParaRPr lang="en-US" sz="2100" dirty="0"/>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work/bg/10_thankyou.png"/>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4555</Words>
  <Application>WPS Presentation</Application>
  <PresentationFormat>On-screen Show (16:9)</PresentationFormat>
  <Paragraphs>114</Paragraphs>
  <Slides>10</Slides>
  <Notes>10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vt:i4>
      </vt:variant>
    </vt:vector>
  </HeadingPairs>
  <TitlesOfParts>
    <vt:vector size="22" baseType="lpstr">
      <vt:lpstr>Arial</vt:lpstr>
      <vt:lpstr>SimSun</vt:lpstr>
      <vt:lpstr>Wingdings</vt:lpstr>
      <vt:lpstr>Arial</vt:lpstr>
      <vt:lpstr>Arial</vt:lpstr>
      <vt:lpstr>Calibri</vt:lpstr>
      <vt:lpstr>Helvetica Neue</vt:lpstr>
      <vt:lpstr>Microsoft YaHei</vt:lpstr>
      <vt:lpstr>汉仪旗黑</vt:lpstr>
      <vt:lpstr>Arial Unicode MS</vt:lpstr>
      <vt:lpstr>宋体-简</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vik</cp:lastModifiedBy>
  <cp:revision>2</cp:revision>
  <dcterms:created xsi:type="dcterms:W3CDTF">2026-09-10T11:25:01Z</dcterms:created>
  <dcterms:modified xsi:type="dcterms:W3CDTF">2026-09-10T11:25:01Z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1033-12.1.26050.26050</vt:lpwstr>
  </property>
  <property fmtid="{D5CDD505-2E9C-101B-9397-08002B2CF9AE}" pid="3" name="ICV">
    <vt:lpwstr>7970C780D6147D5F8D93A26AE0C6B549_42</vt:lpwstr>
  </property>
</Properties>
</file>